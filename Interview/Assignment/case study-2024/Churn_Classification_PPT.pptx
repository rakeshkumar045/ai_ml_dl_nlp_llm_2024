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o8ULnj5Bx9j8e1x/Vtys5q5z0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customschemas.google.com/relationships/presentationmetadata" Target="meta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5db502f6de_0_739"/>
          <p:cNvSpPr/>
          <p:nvPr/>
        </p:nvSpPr>
        <p:spPr>
          <a:xfrm>
            <a:off x="-125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g35db502f6de_0_739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g35db502f6de_0_739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g35db502f6de_0_7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5db502f6de_0_744"/>
          <p:cNvSpPr/>
          <p:nvPr/>
        </p:nvSpPr>
        <p:spPr>
          <a:xfrm>
            <a:off x="0" y="64132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g35db502f6de_0_744"/>
          <p:cNvSpPr/>
          <p:nvPr/>
        </p:nvSpPr>
        <p:spPr>
          <a:xfrm>
            <a:off x="0" y="0"/>
            <a:ext cx="9144250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g35db502f6de_0_744"/>
          <p:cNvSpPr txBox="1"/>
          <p:nvPr>
            <p:ph type="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g35db502f6de_0_7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5db502f6de_0_749"/>
          <p:cNvSpPr/>
          <p:nvPr/>
        </p:nvSpPr>
        <p:spPr>
          <a:xfrm>
            <a:off x="0" y="0"/>
            <a:ext cx="4314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5db502f6de_0_749"/>
          <p:cNvSpPr/>
          <p:nvPr/>
        </p:nvSpPr>
        <p:spPr>
          <a:xfrm>
            <a:off x="0" y="58833"/>
            <a:ext cx="4313625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g35db502f6de_0_749"/>
          <p:cNvSpPr/>
          <p:nvPr/>
        </p:nvSpPr>
        <p:spPr>
          <a:xfrm>
            <a:off x="-125" y="0"/>
            <a:ext cx="4316900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g35db502f6de_0_749"/>
          <p:cNvSpPr txBox="1"/>
          <p:nvPr>
            <p:ph type="title"/>
          </p:nvPr>
        </p:nvSpPr>
        <p:spPr>
          <a:xfrm>
            <a:off x="311725" y="667900"/>
            <a:ext cx="3706500" cy="3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35db502f6de_0_749"/>
          <p:cNvSpPr txBox="1"/>
          <p:nvPr>
            <p:ph idx="1" type="body"/>
          </p:nvPr>
        </p:nvSpPr>
        <p:spPr>
          <a:xfrm>
            <a:off x="4644675" y="667900"/>
            <a:ext cx="4166400" cy="54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g35db502f6de_0_7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5db502f6de_0_756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5db502f6de_0_756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g35db502f6de_0_756"/>
          <p:cNvSpPr txBox="1"/>
          <p:nvPr>
            <p:ph idx="1" type="body"/>
          </p:nvPr>
        </p:nvSpPr>
        <p:spPr>
          <a:xfrm>
            <a:off x="3117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5db502f6de_0_756"/>
          <p:cNvSpPr txBox="1"/>
          <p:nvPr>
            <p:ph idx="2" type="body"/>
          </p:nvPr>
        </p:nvSpPr>
        <p:spPr>
          <a:xfrm>
            <a:off x="4832400" y="2007600"/>
            <a:ext cx="39999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g35db502f6de_0_7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db502f6de_0_762"/>
          <p:cNvSpPr/>
          <p:nvPr/>
        </p:nvSpPr>
        <p:spPr>
          <a:xfrm>
            <a:off x="0" y="0"/>
            <a:ext cx="9144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5db502f6de_0_762"/>
          <p:cNvSpPr txBox="1"/>
          <p:nvPr>
            <p:ph type="title"/>
          </p:nvPr>
        </p:nvSpPr>
        <p:spPr>
          <a:xfrm>
            <a:off x="311725" y="667900"/>
            <a:ext cx="85206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5db502f6de_0_7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5db502f6de_0_766"/>
          <p:cNvSpPr/>
          <p:nvPr/>
        </p:nvSpPr>
        <p:spPr>
          <a:xfrm>
            <a:off x="0" y="0"/>
            <a:ext cx="37644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5db502f6de_0_766"/>
          <p:cNvSpPr txBox="1"/>
          <p:nvPr>
            <p:ph type="title"/>
          </p:nvPr>
        </p:nvSpPr>
        <p:spPr>
          <a:xfrm>
            <a:off x="311725" y="667900"/>
            <a:ext cx="3127500" cy="24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g35db502f6de_0_766"/>
          <p:cNvSpPr txBox="1"/>
          <p:nvPr>
            <p:ph idx="1" type="body"/>
          </p:nvPr>
        </p:nvSpPr>
        <p:spPr>
          <a:xfrm>
            <a:off x="311700" y="3187533"/>
            <a:ext cx="31275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g35db502f6de_0_7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5db502f6de_0_771"/>
          <p:cNvSpPr txBox="1"/>
          <p:nvPr>
            <p:ph type="title"/>
          </p:nvPr>
        </p:nvSpPr>
        <p:spPr>
          <a:xfrm>
            <a:off x="311675" y="1064800"/>
            <a:ext cx="6247800" cy="47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g35db502f6de_0_77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5db502f6de_0_774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5db502f6de_0_774"/>
          <p:cNvSpPr txBox="1"/>
          <p:nvPr>
            <p:ph type="title"/>
          </p:nvPr>
        </p:nvSpPr>
        <p:spPr>
          <a:xfrm>
            <a:off x="311300" y="667900"/>
            <a:ext cx="3704400" cy="27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5db502f6de_0_774"/>
          <p:cNvSpPr txBox="1"/>
          <p:nvPr>
            <p:ph idx="1" type="subTitle"/>
          </p:nvPr>
        </p:nvSpPr>
        <p:spPr>
          <a:xfrm>
            <a:off x="304800" y="3502300"/>
            <a:ext cx="3704400" cy="12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g35db502f6de_0_774"/>
          <p:cNvSpPr txBox="1"/>
          <p:nvPr>
            <p:ph idx="2" type="body"/>
          </p:nvPr>
        </p:nvSpPr>
        <p:spPr>
          <a:xfrm>
            <a:off x="4879025" y="667900"/>
            <a:ext cx="3954000" cy="54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g35db502f6de_0_7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5db502f6de_0_780"/>
          <p:cNvSpPr/>
          <p:nvPr/>
        </p:nvSpPr>
        <p:spPr>
          <a:xfrm>
            <a:off x="0" y="5825333"/>
            <a:ext cx="9144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5db502f6de_0_780"/>
          <p:cNvSpPr txBox="1"/>
          <p:nvPr>
            <p:ph idx="1" type="body"/>
          </p:nvPr>
        </p:nvSpPr>
        <p:spPr>
          <a:xfrm>
            <a:off x="311700" y="6028533"/>
            <a:ext cx="7979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g35db502f6de_0_78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db502f6de_0_784"/>
          <p:cNvSpPr txBox="1"/>
          <p:nvPr>
            <p:ph hasCustomPrompt="1" type="title"/>
          </p:nvPr>
        </p:nvSpPr>
        <p:spPr>
          <a:xfrm>
            <a:off x="311750" y="1108233"/>
            <a:ext cx="5334900" cy="165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5db502f6de_0_784"/>
          <p:cNvSpPr txBox="1"/>
          <p:nvPr>
            <p:ph idx="1" type="body"/>
          </p:nvPr>
        </p:nvSpPr>
        <p:spPr>
          <a:xfrm>
            <a:off x="311700" y="2828567"/>
            <a:ext cx="5334900" cy="12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g35db502f6de_0_7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db502f6de_0_7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db502f6de_0_7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g35db502f6de_0_79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g35db502f6de_0_79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5db502f6de_0_79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5db502f6de_0_79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5db502f6de_0_7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g35db502f6de_0_7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5db502f6de_0_7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ctrTitle"/>
          </p:nvPr>
        </p:nvSpPr>
        <p:spPr>
          <a:xfrm>
            <a:off x="311700" y="719633"/>
            <a:ext cx="85206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Churn Binary Classification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311700" y="2504747"/>
            <a:ext cx="42426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Name: Rakesh Kumar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500">
                <a:latin typeface="Calibri"/>
                <a:ea typeface="Calibri"/>
                <a:cs typeface="Calibri"/>
                <a:sym typeface="Calibri"/>
              </a:rPr>
              <a:t>Date: May 26, 2025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77" name="Google Shape;7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a labeled training dataset, the goal is to predict churn in a binary classification setting. We aim to explore data, engineer relevant features, and evaluate multiple classification models to identify the best performer.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Overview &amp; Task</a:t>
            </a:r>
            <a:endParaRPr/>
          </a:p>
        </p:txBody>
      </p:sp>
      <p:sp>
        <p:nvSpPr>
          <p:cNvPr id="83" name="Google Shape;8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Propose a solution approach for a customer churn classification problem.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Deliverables: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Documentation of steps, ideas, and observations.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Detailed data analysis.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engineering strategies.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 success criteria and performance metrics.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120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Predict whether a customer will churn based on the provided dataset.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Approach &amp; Workflow</a:t>
            </a:r>
            <a:endParaRPr/>
          </a:p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457200" y="1417651"/>
            <a:ext cx="8229600" cy="4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46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Data Loading &amp; Initial Exploration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Exploratory Data Analysis (EDA)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Handling Class Imbalance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Model Selection &amp; Training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Hyperparameter Tuning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Feature Importance Analysis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 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230 features, 45,000 observations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Churn (Binary: 0 = No, 1 = Yes)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36,548 Non-Churn, 8,452 Churn (18.8%)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Some features with &gt; 90% missing values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Types: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Mix of numerical and categorical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/>
          </a:p>
        </p:txBody>
      </p:sp>
      <p:sp>
        <p:nvSpPr>
          <p:cNvPr id="101" name="Google Shape;101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value treatment using SimpleImputer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 scaling for numerical features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 encoding for categorical variables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ColumnTransformer used for preprocessing pipeline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Dropped columns with &gt; 90% missing values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Imputed missing values (Numerical: Mean, Categorical: Mode)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Numerical Scaling: StandardScaler (mean=0, std=1)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Handling Class Imbalance</a:t>
            </a:r>
            <a:endParaRPr/>
          </a:p>
        </p:txBody>
      </p:sp>
      <p:sp>
        <p:nvSpPr>
          <p:cNvPr id="107" name="Google Shape;10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Imbalanced target (18.8% Churn)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Applied SMOTE to training data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Balanced class distribution, improved minority class learning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SMOTE only on training set to prevent leakage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Selection &amp; Training</a:t>
            </a:r>
            <a:endParaRPr/>
          </a:p>
        </p:txBody>
      </p:sp>
      <p:sp>
        <p:nvSpPr>
          <p:cNvPr id="113" name="Google Shape;11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 Models: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Hyperparameter tuning with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4640" lvl="0" marL="3429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RandomizedSearchCV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 txBox="1"/>
          <p:nvPr>
            <p:ph type="title"/>
          </p:nvPr>
        </p:nvSpPr>
        <p:spPr>
          <a:xfrm>
            <a:off x="457200" y="274650"/>
            <a:ext cx="8574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Metrics &amp; Success Criteria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 txBox="1"/>
          <p:nvPr>
            <p:ph idx="1" type="body"/>
          </p:nvPr>
        </p:nvSpPr>
        <p:spPr>
          <a:xfrm>
            <a:off x="538925" y="1600200"/>
            <a:ext cx="81480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Overall correctness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Quality of positive predictions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Capture rate of actual positives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Balance between precision and recall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ROC-AUC Score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Ability to distinguish between classes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 Criteria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High recall with acceptable precision and ROC-AUC above 0.80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Focus: Balance between Precision and Recall for Churn=1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>
            <p:ph type="title"/>
          </p:nvPr>
        </p:nvSpPr>
        <p:spPr>
          <a:xfrm>
            <a:off x="0" y="274650"/>
            <a:ext cx="922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Tuned XGboost 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Accuracy: 0.92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Precision: 0.21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0.009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F1-Score: 0.30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AUC: 0.70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Interpretation: Model is precise but recall is low. Focus on improving recall next.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10 Feature Importances 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>
            <p:ph idx="1" type="body"/>
          </p:nvPr>
        </p:nvSpPr>
        <p:spPr>
          <a:xfrm>
            <a:off x="610475" y="1417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Features:</a:t>
            </a:r>
            <a:endParaRPr b="1" sz="3700"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cat__Var207_KASS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cat__Var217_smXZ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cat__Var217_Jc_h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num__Var189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cat__Var202_OTHER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cat__Var220_jySV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cat__Var228_RAYp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cat__Var226_sJzT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cat__Var217_r_7H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120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cat__Var217_6_L6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367825" y="-574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 Criteria &amp; Expectations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 Criteria: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at-risk customers effectively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 Recall and Precision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AUC &gt; 0.5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 Expectations:</a:t>
            </a:r>
            <a:endParaRPr b="1" sz="26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Documented approach and metrics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AUC = 0.70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Actionable insights via feature importance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0" y="24275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Calibri"/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Observations &amp; </a:t>
            </a: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 &amp; Next Steps</a:t>
            </a:r>
            <a:endParaRPr sz="4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>
            <p:ph idx="1" type="body"/>
          </p:nvPr>
        </p:nvSpPr>
        <p:spPr>
          <a:xfrm>
            <a:off x="296275" y="988475"/>
            <a:ext cx="8556600" cy="6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exhibited class imbalance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SMOTE was used to balance the training data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 showed strong classification performance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importance analysis highlighted key churn indicators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Conclusion: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 model developed (ROC AUC = 0.70)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Identified key churn drivers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Predictive tool for retention strategies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Steps: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 Recall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Business Rules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Deeper Feature Analysis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544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Cost-Benefit Analysis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114300" lvl="0" marL="1257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14300" lvl="0" marL="12573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14300" lvl="0" marL="2628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sz="3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