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wJXc+Cfts0fmbBOUhdav/cnPx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自定义版式">
  <p:cSld name="3_自定义版式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>
            <p:ph idx="2" type="pic"/>
          </p:nvPr>
        </p:nvSpPr>
        <p:spPr>
          <a:xfrm>
            <a:off x="1820245" y="1875863"/>
            <a:ext cx="3828000" cy="26547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6"/>
          <p:cNvSpPr/>
          <p:nvPr>
            <p:ph idx="3" type="pic"/>
          </p:nvPr>
        </p:nvSpPr>
        <p:spPr>
          <a:xfrm>
            <a:off x="6764231" y="1875863"/>
            <a:ext cx="3828000" cy="2654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>
  <p:cSld name="标题幻灯片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1257300" y="2551838"/>
            <a:ext cx="84837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感谢您下载包图网平台上提供的PPT作品 为了您和包图网以及原创作者的利益 请勿复制、传播、销售 否则将承担法律责任！包图网将对作品进行维权 按照传播下载次数进行十倍的索取赔偿！</a:t>
            </a:r>
            <a:endParaRPr b="0" i="0" sz="1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自定义版式">
  <p:cSld name="1_自定义版式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>
            <p:ph idx="2" type="pic"/>
          </p:nvPr>
        </p:nvSpPr>
        <p:spPr>
          <a:xfrm>
            <a:off x="2234527" y="2305287"/>
            <a:ext cx="1325700" cy="13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5434927" y="2305287"/>
            <a:ext cx="1325700" cy="13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/>
          <p:nvPr>
            <p:ph idx="4" type="pic"/>
          </p:nvPr>
        </p:nvSpPr>
        <p:spPr>
          <a:xfrm>
            <a:off x="8635327" y="2305287"/>
            <a:ext cx="1325700" cy="13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0" y="0"/>
            <a:ext cx="12192000" cy="3976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自定义版式">
  <p:cSld name="11_自定义版式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/>
          <p:nvPr>
            <p:ph idx="2" type="pic"/>
          </p:nvPr>
        </p:nvSpPr>
        <p:spPr>
          <a:xfrm>
            <a:off x="2874203" y="4186426"/>
            <a:ext cx="1445400" cy="14454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1"/>
          <p:cNvSpPr/>
          <p:nvPr>
            <p:ph idx="3" type="pic"/>
          </p:nvPr>
        </p:nvSpPr>
        <p:spPr>
          <a:xfrm>
            <a:off x="7745415" y="2032002"/>
            <a:ext cx="1445400" cy="144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自定义版式">
  <p:cSld name="6_自定义版式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/>
          <p:nvPr>
            <p:ph idx="2" type="pic"/>
          </p:nvPr>
        </p:nvSpPr>
        <p:spPr>
          <a:xfrm>
            <a:off x="4288015" y="2043853"/>
            <a:ext cx="1548600" cy="15486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2"/>
          <p:cNvSpPr/>
          <p:nvPr>
            <p:ph idx="3" type="pic"/>
          </p:nvPr>
        </p:nvSpPr>
        <p:spPr>
          <a:xfrm>
            <a:off x="6355319" y="2043853"/>
            <a:ext cx="1548600" cy="15486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2"/>
          <p:cNvSpPr/>
          <p:nvPr>
            <p:ph idx="4" type="pic"/>
          </p:nvPr>
        </p:nvSpPr>
        <p:spPr>
          <a:xfrm>
            <a:off x="6355321" y="3986208"/>
            <a:ext cx="1548600" cy="15486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2"/>
          <p:cNvSpPr/>
          <p:nvPr>
            <p:ph idx="5" type="pic"/>
          </p:nvPr>
        </p:nvSpPr>
        <p:spPr>
          <a:xfrm>
            <a:off x="4288015" y="3986207"/>
            <a:ext cx="1548600" cy="15486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自定义版式">
  <p:cSld name="13_自定义版式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>
            <p:ph idx="2" type="pic"/>
          </p:nvPr>
        </p:nvSpPr>
        <p:spPr>
          <a:xfrm>
            <a:off x="874712" y="1866902"/>
            <a:ext cx="10442700" cy="278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自定义版式">
  <p:cSld name="14_自定义版式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/>
          <p:nvPr>
            <p:ph idx="2" type="pic"/>
          </p:nvPr>
        </p:nvSpPr>
        <p:spPr>
          <a:xfrm>
            <a:off x="1846635" y="2114549"/>
            <a:ext cx="2174100" cy="20718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4"/>
          <p:cNvSpPr/>
          <p:nvPr>
            <p:ph idx="3" type="pic"/>
          </p:nvPr>
        </p:nvSpPr>
        <p:spPr>
          <a:xfrm>
            <a:off x="5004897" y="2114549"/>
            <a:ext cx="2174100" cy="2071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4"/>
          <p:cNvSpPr/>
          <p:nvPr>
            <p:ph idx="4" type="pic"/>
          </p:nvPr>
        </p:nvSpPr>
        <p:spPr>
          <a:xfrm>
            <a:off x="8163159" y="2114549"/>
            <a:ext cx="2174100" cy="20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自定义版式">
  <p:cSld name="15_自定义版式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/>
          <p:nvPr>
            <p:ph idx="2" type="pic"/>
          </p:nvPr>
        </p:nvSpPr>
        <p:spPr>
          <a:xfrm>
            <a:off x="2" y="1885950"/>
            <a:ext cx="2441100" cy="2424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5"/>
          <p:cNvSpPr/>
          <p:nvPr>
            <p:ph idx="3" type="pic"/>
          </p:nvPr>
        </p:nvSpPr>
        <p:spPr>
          <a:xfrm>
            <a:off x="4875386" y="1885950"/>
            <a:ext cx="2441100" cy="24240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5"/>
          <p:cNvSpPr/>
          <p:nvPr>
            <p:ph idx="4" type="pic"/>
          </p:nvPr>
        </p:nvSpPr>
        <p:spPr>
          <a:xfrm>
            <a:off x="9750769" y="1885950"/>
            <a:ext cx="2441100" cy="242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/>
        </p:nvSpPr>
        <p:spPr>
          <a:xfrm>
            <a:off x="1412934" y="883551"/>
            <a:ext cx="1847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0" y="24346"/>
            <a:ext cx="12192000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i="0" sz="3700" u="none" cap="none" strike="noStrike">
              <a:solidFill>
                <a:srgbClr val="337E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4009938" y="2508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0" y="549523"/>
            <a:ext cx="8743406" cy="5449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>
              <a:solidFill>
                <a:srgbClr val="3741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Addressing the client's need for a demand forecasting framework to handle changing demand trends and varying macroeconomic factors.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Highlight the challenges faced due to the pandemic, high-stock inventory, and shifting historical demand patterns.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on Business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Emphasize how an effective demand forecasting framework can significantly impact the client's bottom line by reducing excess inventory costs and improving customer satisfaction.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Dynamics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Discuss the dynamic nature of the sanitary ware industry, where customer preferences, construction trends, and regulatory changes can lead to unpredictable demand fluctuations.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Advantage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Stress that a well-designed forecasting framework not only helps manage supply chain operations but also positions the client as an industry leader, responsive to market changes.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 the key objectives, such as accurate demand forecasting for all SKUs in 5 regions, optimizing inventory, and adapting to changing market dynamics.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person writing on a post it note&#10;&#10;Description automatically generated" id="129" name="Google Shape;1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8285" y="1283661"/>
            <a:ext cx="2965982" cy="4645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/>
        </p:nvSpPr>
        <p:spPr>
          <a:xfrm>
            <a:off x="1412934" y="883551"/>
            <a:ext cx="1847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0" y="267466"/>
            <a:ext cx="12192000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700">
                <a:solidFill>
                  <a:srgbClr val="337E8D"/>
                </a:solidFill>
                <a:latin typeface="Arial"/>
                <a:ea typeface="Arial"/>
                <a:cs typeface="Arial"/>
                <a:sym typeface="Arial"/>
              </a:rPr>
              <a:t>Solution Approach</a:t>
            </a:r>
            <a:endParaRPr b="1" sz="3700">
              <a:solidFill>
                <a:srgbClr val="337E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4009938" y="2508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73891" y="1486908"/>
            <a:ext cx="8506691" cy="4321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r>
              <a:rPr b="0" i="0" lang="en-IN" sz="15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Gather historical sales data, market trends, economic indicators, and any external factors.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r>
              <a:rPr b="0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relevant features affecting demand, such as seasonality, product launches, promotions, economic indicators.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Selection</a:t>
            </a:r>
            <a:r>
              <a:rPr b="0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suitable forecasting models (Example: Arima, Prophet, Neural Prophet) based on data characteristics. Consider an ensemble approach for robustness.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r>
              <a:rPr b="0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models on historical data, considering regional variations and SKU-specific patterns.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Cross-validation</a:t>
            </a:r>
            <a:r>
              <a:rPr b="0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cross-validation techniques to assess model accuracy and generalization.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4762" y="1303640"/>
            <a:ext cx="2327565" cy="1976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growth on a hundred dollar bill&#10;&#10;Description automatically generated" id="139" name="Google Shape;1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4761" y="3654675"/>
            <a:ext cx="2327565" cy="174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/>
        </p:nvSpPr>
        <p:spPr>
          <a:xfrm>
            <a:off x="1412934" y="883551"/>
            <a:ext cx="1847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0" y="65380"/>
            <a:ext cx="12192000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700">
                <a:solidFill>
                  <a:srgbClr val="337E8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and Monitoring</a:t>
            </a:r>
            <a:endParaRPr b="1" sz="3700">
              <a:solidFill>
                <a:srgbClr val="337E8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09938" y="2508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0" y="1301788"/>
            <a:ext cx="8490857" cy="5264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IN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Deploy the forecasting framework integrated with the client's IT infrastructure to provide real-time forecasts.</a:t>
            </a:r>
            <a:endParaRPr/>
          </a:p>
          <a:p>
            <a:pPr indent="-1016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Monitoring and Feedback Loop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Continuously monitor the forecasting accuracy and adapt models to changing conditions.</a:t>
            </a:r>
            <a:endParaRPr/>
          </a:p>
          <a:p>
            <a:pPr indent="-1016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Collaboration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Collaborate with the client's teams to integrate the framework into their decision-making processes.</a:t>
            </a:r>
            <a:endParaRPr/>
          </a:p>
          <a:p>
            <a:pPr indent="-1016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Reporting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Generate regular reports and dashboards to provide insights into demand patterns and forecasting accuracy.</a:t>
            </a:r>
            <a:endParaRPr/>
          </a:p>
          <a:p>
            <a:pPr indent="-1016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Scalability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Ensure the framework can scale as the client's business grows or as new regions are added.</a:t>
            </a:r>
            <a:endParaRPr/>
          </a:p>
          <a:p>
            <a:pPr indent="-1016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Benefit of Proposed Solution</a:t>
            </a:r>
            <a:r>
              <a:rPr b="0" i="0" lang="en-IN" sz="16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I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demand forecasting framework is a robust and forward-looking approach that takes into account both historical and macroeconomic factors.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>
              <a:solidFill>
                <a:srgbClr val="3741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forecast process&#10;&#10;Description automatically generated" id="148" name="Google Shape;1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0857" y="1092669"/>
            <a:ext cx="3595658" cy="5064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2017-12-25T00:58:48Z</dcterms:created>
  <dc:creator>Microsoft</dc:creator>
</cp:coreProperties>
</file>