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D6470-B9D0-4D18-BBF3-0F21BA0728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47947A-57C5-4985-AFEC-A25A93B9C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A35D1-D678-4194-B75B-CF3BFA84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65CF7-1B9C-47ED-9B71-C914630369F1}" type="datetimeFigureOut">
              <a:rPr lang="en-US" smtClean="0"/>
              <a:t>9/10/2023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C044C-A807-4488-A0E1-2094E0A3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7B31B-3223-40CE-B361-2750ADC10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A29B-31E0-4A4A-A685-3A4BB432A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083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8B7A8-A168-4920-86A3-688AD192D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A125D-4C85-45CB-9346-66576A3C6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8EFC2-B6DE-491A-A64F-63021B5B4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65CF7-1B9C-47ED-9B71-C914630369F1}" type="datetimeFigureOut">
              <a:rPr lang="en-US" smtClean="0"/>
              <a:t>9/10/2023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E21AC-5E03-46E7-A286-9A1025CD5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C047C-A856-413E-B957-178D5AE6C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A29B-31E0-4A4A-A685-3A4BB432A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0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3EE7-6D5F-4F6A-93F3-04DA41967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E051D-FA01-4C6B-854B-1CCD30175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C7B12-63B0-4506-8397-15827CC06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65CF7-1B9C-47ED-9B71-C914630369F1}" type="datetimeFigureOut">
              <a:rPr lang="en-US" smtClean="0"/>
              <a:t>9/10/2023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E6EB1-A3A8-44BC-9DEC-E70DED2F3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FBCCE-8148-49BD-BE42-CF1B4F648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A29B-31E0-4A4A-A685-3A4BB432A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180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32C04-7BFA-4ACB-9252-734E70455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D5D0B-8656-4C63-A30C-C50CF1E5B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374B4-13AB-494A-B7EA-35E172348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3EDFB-5CD4-4585-9BFA-B2C737BF4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65CF7-1B9C-47ED-9B71-C914630369F1}" type="datetimeFigureOut">
              <a:rPr lang="en-US" smtClean="0"/>
              <a:t>9/10/2023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7E9F0-FAA9-4BF7-8A9E-7B2F88603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9A283-AD2C-4D6D-B41B-303A8FD25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A29B-31E0-4A4A-A685-3A4BB432A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26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9BB35-F9D4-4FF1-8B36-9F4BC3010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694F2-56CF-4D36-9511-CCEE09723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75864-17B3-4DA7-9D37-14B7C254E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018032-7040-4FC7-8132-3B62A74A5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FC220-8E33-42E2-AE5C-EC5575DEC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BC5524-5359-45B3-8E14-7F052E3B8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65CF7-1B9C-47ED-9B71-C914630369F1}" type="datetimeFigureOut">
              <a:rPr lang="en-US" smtClean="0"/>
              <a:t>9/10/2023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18EBD7-CE58-4D6D-8D4B-EF74531CD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72C5E3-1915-490A-A4BE-91BD29AEA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A29B-31E0-4A4A-A685-3A4BB432A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287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7AB99-2AA8-4526-A72B-08EC0A3B5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460A0-D87C-4DFB-BDE3-480F687BE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65CF7-1B9C-47ED-9B71-C914630369F1}" type="datetimeFigureOut">
              <a:rPr lang="en-US" smtClean="0"/>
              <a:t>9/10/2023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E56075-11FE-4CAD-9DC4-0DFC9536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56A99-AE59-404B-9F17-240F0B652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A29B-31E0-4A4A-A685-3A4BB432A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6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D1F3F8-A890-49DA-878A-2ECFACD48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65CF7-1B9C-47ED-9B71-C914630369F1}" type="datetimeFigureOut">
              <a:rPr lang="en-US" smtClean="0"/>
              <a:t>9/10/2023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68A117-B2C6-45E4-ACC7-863F6506A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91F79B-76D0-443B-B3A5-E6B440DF0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A29B-31E0-4A4A-A685-3A4BB432A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15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A788E-0F9E-4907-A4AB-D851D58F3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EB824-856D-4BC1-BFB2-E886FBEDD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30E4A4-2EC8-4187-A24D-36E301961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A5A95-A7F2-4153-BA05-78CD16EBE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65CF7-1B9C-47ED-9B71-C914630369F1}" type="datetimeFigureOut">
              <a:rPr lang="en-US" smtClean="0"/>
              <a:t>9/10/2023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8F708-9DFF-4FDC-A095-9937997E8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6E205-839B-49EB-B7FB-BEFAE3A1D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A29B-31E0-4A4A-A685-3A4BB432A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16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49C42-E02E-4AF3-B8A4-73200A17F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17B08F-4167-4561-BE68-A4D0394E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8A341-577F-4401-924D-D73D61D1B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28269-724E-41F9-825D-7E108CEAF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65CF7-1B9C-47ED-9B71-C914630369F1}" type="datetimeFigureOut">
              <a:rPr lang="en-US" smtClean="0"/>
              <a:t>9/10/2023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8F0A6-1BBB-43F7-B266-FBA44FCA5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413E4-7A76-419A-B96B-383244E62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A29B-31E0-4A4A-A685-3A4BB432A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290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B9206-17AB-4CC8-857F-E5FBFE00C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CAD1E7-6AB2-4BE7-B202-D191655BA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5097D-23BB-42BE-AD5A-AB2386FA3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65CF7-1B9C-47ED-9B71-C914630369F1}" type="datetimeFigureOut">
              <a:rPr lang="en-US" smtClean="0"/>
              <a:t>9/10/2023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0B70F-D069-4B2B-B903-D27A43F2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16D33-323D-4A7F-A9BF-9B3978568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A29B-31E0-4A4A-A685-3A4BB432A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96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7ACD45-76EC-4D98-9728-0638A6E38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7AC5F5-E4F5-4EEB-B700-8AB7A9681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15D27-19E2-41FF-AEE9-B4E40F84A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65CF7-1B9C-47ED-9B71-C914630369F1}" type="datetimeFigureOut">
              <a:rPr lang="en-US" smtClean="0"/>
              <a:t>9/10/2023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591F9-397B-44A4-A7F7-93E9276F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7D8F2-0D5C-4F3F-82CC-8631467D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0A29B-31E0-4A4A-A685-3A4BB432A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026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E9509-66F1-4901-878C-A1284F45C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A9A3F-57B9-43C2-8D24-C358F987D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2D186-5F1A-43EC-ADA2-397CAF0F2D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65CF7-1B9C-47ED-9B71-C914630369F1}" type="datetimeFigureOut">
              <a:rPr lang="en-US" smtClean="0"/>
              <a:t>9/10/2023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78C2D-8305-4004-A8BE-E452BB943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822AC-E584-46EA-9D78-C639D802F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0A29B-31E0-4A4A-A685-3A4BB432A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55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0A257-2F40-4A29-B662-F0919010B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8025" y="2362200"/>
            <a:ext cx="5448299" cy="1162050"/>
          </a:xfrm>
        </p:spPr>
        <p:txBody>
          <a:bodyPr>
            <a:normAutofit/>
          </a:bodyPr>
          <a:lstStyle/>
          <a:p>
            <a:r>
              <a:rPr lang="en-US" b="1" dirty="0"/>
              <a:t>Query-Bot Proposal</a:t>
            </a:r>
          </a:p>
        </p:txBody>
      </p:sp>
      <p:pic>
        <p:nvPicPr>
          <p:cNvPr id="1026" name="Picture 2" descr="Discover Tredence's New Brand Identity">
            <a:extLst>
              <a:ext uri="{FF2B5EF4-FFF2-40B4-BE49-F238E27FC236}">
                <a16:creationId xmlns:a16="http://schemas.microsoft.com/office/drawing/2014/main" id="{B73F06F1-504C-4637-AF71-00175F3B49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0649" y="5431496"/>
            <a:ext cx="2952751" cy="1174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866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5885A-0AB0-4E3A-BADE-5D85E4E76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5851" y="600076"/>
            <a:ext cx="10182224" cy="820737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latin typeface="+mn-lt"/>
              </a:rPr>
              <a:t>Problem Overview</a:t>
            </a:r>
            <a:br>
              <a:rPr lang="en-US" sz="1100" b="1" u="sng" dirty="0">
                <a:solidFill>
                  <a:schemeClr val="accent1">
                    <a:lumMod val="50000"/>
                  </a:schemeClr>
                </a:solidFill>
              </a:rPr>
            </a:b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98584-C147-4A1D-8FCD-0CB96C2FE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5849" y="1695451"/>
            <a:ext cx="10182223" cy="4305300"/>
          </a:xfrm>
        </p:spPr>
        <p:txBody>
          <a:bodyPr/>
          <a:lstStyle/>
          <a:p>
            <a:pPr algn="just"/>
            <a:r>
              <a:rPr lang="en-US" sz="1600" b="1" u="sng" dirty="0">
                <a:solidFill>
                  <a:schemeClr val="accent1">
                    <a:lumMod val="50000"/>
                  </a:schemeClr>
                </a:solidFill>
              </a:rPr>
              <a:t>OBJECTIVE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: Develop a Query Bot to assist marine surveyors (Users) in answering queries quickly by leveraging internal knowledge base documents, reducing reliance on Subject Matter Experts (SMEs) residing in different geographies.</a:t>
            </a:r>
            <a:endParaRPr lang="en-US" sz="1600" b="1" u="sng" dirty="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r>
              <a:rPr lang="en-US" sz="1600" b="1" u="sng" dirty="0">
                <a:solidFill>
                  <a:schemeClr val="accent1">
                    <a:lumMod val="50000"/>
                  </a:schemeClr>
                </a:solidFill>
              </a:rPr>
              <a:t>Data Sources: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Internal documents: PDFs and Word documents containing domain-specific information.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Regulatory information: HTML URLs specific to various geographies of interest.</a:t>
            </a:r>
          </a:p>
          <a:p>
            <a:pPr algn="just"/>
            <a:r>
              <a:rPr lang="en-US" sz="1600" b="1" u="sng" dirty="0">
                <a:solidFill>
                  <a:schemeClr val="accent1">
                    <a:lumMod val="50000"/>
                  </a:schemeClr>
                </a:solidFill>
              </a:rPr>
              <a:t>Challenges: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Multiple geographies and time zones of surveyors.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Efficiently processing unstructured text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Ensuring the bot provides accurate and context-aware responses.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Infrastructure and optimal costing for the solution.</a:t>
            </a:r>
          </a:p>
          <a:p>
            <a:pPr algn="just"/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4" name="Picture 2" descr="Discover Tredence's New Brand Identity">
            <a:extLst>
              <a:ext uri="{FF2B5EF4-FFF2-40B4-BE49-F238E27FC236}">
                <a16:creationId xmlns:a16="http://schemas.microsoft.com/office/drawing/2014/main" id="{6D4B6AC7-D012-439A-8C11-8ADA0AE9F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2574" y="5581650"/>
            <a:ext cx="2247901" cy="895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1891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5885A-0AB0-4E3A-BADE-5D85E4E76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0575" y="725442"/>
            <a:ext cx="10582276" cy="820737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latin typeface="+mn-lt"/>
              </a:rPr>
              <a:t>Solution Approach</a:t>
            </a:r>
            <a:br>
              <a:rPr lang="en-US" sz="1100" b="1" u="sng" dirty="0">
                <a:solidFill>
                  <a:schemeClr val="accent1">
                    <a:lumMod val="50000"/>
                  </a:schemeClr>
                </a:solidFill>
              </a:rPr>
            </a:b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98584-C147-4A1D-8FCD-0CB96C2FE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088" y="1762125"/>
            <a:ext cx="5337306" cy="4181475"/>
          </a:xfrm>
        </p:spPr>
        <p:txBody>
          <a:bodyPr>
            <a:normAutofit/>
          </a:bodyPr>
          <a:lstStyle/>
          <a:p>
            <a:pPr algn="just"/>
            <a:r>
              <a:rPr lang="en-US" sz="1600" b="1" u="sng" dirty="0">
                <a:solidFill>
                  <a:schemeClr val="accent1">
                    <a:lumMod val="50000"/>
                  </a:schemeClr>
                </a:solidFill>
              </a:rPr>
              <a:t>Data Acquisition and Preprocessing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Collect and preprocess internal documents and regulatory information.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Convert PDFs and Word documents into text formats. 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Possible use libs as( </a:t>
            </a:r>
            <a:r>
              <a:rPr lang="en-US" sz="1400" dirty="0" err="1">
                <a:solidFill>
                  <a:schemeClr val="accent1">
                    <a:lumMod val="50000"/>
                  </a:schemeClr>
                </a:solidFill>
              </a:rPr>
              <a:t>Textract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accent1">
                    <a:lumMod val="50000"/>
                  </a:schemeClr>
                </a:solidFill>
              </a:rPr>
              <a:t>pdfminer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) 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Categorize documents by geography and topic for efficient retrieval.</a:t>
            </a:r>
            <a:endParaRPr lang="en-US" sz="1400" b="1" u="sng" dirty="0">
              <a:solidFill>
                <a:schemeClr val="accent1">
                  <a:lumMod val="50000"/>
                </a:schemeClr>
              </a:solidFill>
            </a:endParaRPr>
          </a:p>
          <a:p>
            <a:pPr algn="just">
              <a:lnSpc>
                <a:spcPct val="100000"/>
              </a:lnSpc>
            </a:pPr>
            <a:r>
              <a:rPr lang="en-US" sz="1400" b="1" u="sng" dirty="0">
                <a:solidFill>
                  <a:schemeClr val="accent1">
                    <a:lumMod val="50000"/>
                  </a:schemeClr>
                </a:solidFill>
              </a:rPr>
              <a:t>NLP Model Development Strategy: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Build an NLP model for text classification to categorize incoming queries.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Implement Named Entity Recognition (NER) for entity extraction (e.g., location, vessel type, regulations).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Develop a language model (e.g., BERT, LLM) for understanding context.</a:t>
            </a:r>
          </a:p>
          <a:p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4817F2-7885-40F8-800F-AAC61DBBC57D}"/>
              </a:ext>
            </a:extLst>
          </p:cNvPr>
          <p:cNvGrpSpPr/>
          <p:nvPr/>
        </p:nvGrpSpPr>
        <p:grpSpPr>
          <a:xfrm>
            <a:off x="6315075" y="1933576"/>
            <a:ext cx="5057775" cy="2505074"/>
            <a:chOff x="0" y="0"/>
            <a:chExt cx="4857750" cy="1765300"/>
          </a:xfrm>
        </p:grpSpPr>
        <p:sp>
          <p:nvSpPr>
            <p:cNvPr id="6" name="Flowchart: Process 5">
              <a:extLst>
                <a:ext uri="{FF2B5EF4-FFF2-40B4-BE49-F238E27FC236}">
                  <a16:creationId xmlns:a16="http://schemas.microsoft.com/office/drawing/2014/main" id="{2E67FDB5-7D89-4C35-A77B-1E23388C893D}"/>
                </a:ext>
              </a:extLst>
            </p:cNvPr>
            <p:cNvSpPr/>
            <p:nvPr/>
          </p:nvSpPr>
          <p:spPr>
            <a:xfrm>
              <a:off x="0" y="1123950"/>
              <a:ext cx="749300" cy="266700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900" b="0" cap="none" spc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Document</a:t>
              </a:r>
            </a:p>
          </p:txBody>
        </p:sp>
        <p:sp>
          <p:nvSpPr>
            <p:cNvPr id="8" name="Flowchart: Multidocument 7">
              <a:extLst>
                <a:ext uri="{FF2B5EF4-FFF2-40B4-BE49-F238E27FC236}">
                  <a16:creationId xmlns:a16="http://schemas.microsoft.com/office/drawing/2014/main" id="{60368159-F60A-4FB0-9225-F86D0EBF4532}"/>
                </a:ext>
              </a:extLst>
            </p:cNvPr>
            <p:cNvSpPr/>
            <p:nvPr/>
          </p:nvSpPr>
          <p:spPr>
            <a:xfrm>
              <a:off x="920750" y="1060450"/>
              <a:ext cx="762000" cy="425450"/>
            </a:xfrm>
            <a:prstGeom prst="flowChartMultidocumen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900" b="0" cap="none" spc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Chunks</a:t>
              </a:r>
            </a:p>
          </p:txBody>
        </p:sp>
        <p:sp>
          <p:nvSpPr>
            <p:cNvPr id="9" name="Flowchart: Multidocument 8">
              <a:extLst>
                <a:ext uri="{FF2B5EF4-FFF2-40B4-BE49-F238E27FC236}">
                  <a16:creationId xmlns:a16="http://schemas.microsoft.com/office/drawing/2014/main" id="{E7264D92-E684-44AD-ACED-40B30BC195AB}"/>
                </a:ext>
              </a:extLst>
            </p:cNvPr>
            <p:cNvSpPr/>
            <p:nvPr/>
          </p:nvSpPr>
          <p:spPr>
            <a:xfrm>
              <a:off x="1873250" y="1054100"/>
              <a:ext cx="908050" cy="425450"/>
            </a:xfrm>
            <a:prstGeom prst="flowChartMultidocumen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900" b="0" cap="none" spc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Embeddings</a:t>
              </a:r>
            </a:p>
          </p:txBody>
        </p:sp>
        <p:sp>
          <p:nvSpPr>
            <p:cNvPr id="10" name="Flowchart: Magnetic Disk 9">
              <a:extLst>
                <a:ext uri="{FF2B5EF4-FFF2-40B4-BE49-F238E27FC236}">
                  <a16:creationId xmlns:a16="http://schemas.microsoft.com/office/drawing/2014/main" id="{AE053081-B434-4266-9323-0CFF308CE63B}"/>
                </a:ext>
              </a:extLst>
            </p:cNvPr>
            <p:cNvSpPr/>
            <p:nvPr/>
          </p:nvSpPr>
          <p:spPr>
            <a:xfrm>
              <a:off x="2940050" y="965200"/>
              <a:ext cx="889000" cy="406400"/>
            </a:xfrm>
            <a:prstGeom prst="flowChartMagneticDisk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800" b="0" cap="none" spc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Vector Database</a:t>
              </a:r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95545D4C-D08E-462B-8330-7BB93225FB68}"/>
                </a:ext>
              </a:extLst>
            </p:cNvPr>
            <p:cNvSpPr/>
            <p:nvPr/>
          </p:nvSpPr>
          <p:spPr>
            <a:xfrm>
              <a:off x="2933700" y="273050"/>
              <a:ext cx="438150" cy="222250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900" b="0" cap="none" spc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User</a:t>
              </a:r>
            </a:p>
          </p:txBody>
        </p:sp>
        <p:sp>
          <p:nvSpPr>
            <p:cNvPr id="12" name="Flowchart: Multidocument 11">
              <a:extLst>
                <a:ext uri="{FF2B5EF4-FFF2-40B4-BE49-F238E27FC236}">
                  <a16:creationId xmlns:a16="http://schemas.microsoft.com/office/drawing/2014/main" id="{EE8D0BE4-25FC-4801-A3FE-2C8218C41D41}"/>
                </a:ext>
              </a:extLst>
            </p:cNvPr>
            <p:cNvSpPr/>
            <p:nvPr/>
          </p:nvSpPr>
          <p:spPr>
            <a:xfrm>
              <a:off x="4095750" y="1295400"/>
              <a:ext cx="762000" cy="469900"/>
            </a:xfrm>
            <a:prstGeom prst="flowChartMultidocumen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800" b="0" cap="none" spc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Matched documents</a:t>
              </a:r>
            </a:p>
          </p:txBody>
        </p:sp>
        <p:sp>
          <p:nvSpPr>
            <p:cNvPr id="13" name="Flowchart: Process 12">
              <a:extLst>
                <a:ext uri="{FF2B5EF4-FFF2-40B4-BE49-F238E27FC236}">
                  <a16:creationId xmlns:a16="http://schemas.microsoft.com/office/drawing/2014/main" id="{7BB19257-C93D-41AC-808F-C83F278EFEE1}"/>
                </a:ext>
              </a:extLst>
            </p:cNvPr>
            <p:cNvSpPr/>
            <p:nvPr/>
          </p:nvSpPr>
          <p:spPr>
            <a:xfrm>
              <a:off x="4095750" y="711200"/>
              <a:ext cx="654050" cy="266700"/>
            </a:xfrm>
            <a:prstGeom prst="flowChart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700" b="0" cap="none" spc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LLM gpt-3.5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21B282D-AE9D-49DF-8FBD-425598FEDD05}"/>
                </a:ext>
              </a:extLst>
            </p:cNvPr>
            <p:cNvCxnSpPr>
              <a:stCxn id="6" idx="3"/>
              <a:endCxn id="8" idx="1"/>
            </p:cNvCxnSpPr>
            <p:nvPr/>
          </p:nvCxnSpPr>
          <p:spPr>
            <a:xfrm>
              <a:off x="749300" y="1257300"/>
              <a:ext cx="171450" cy="158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AE69A49-F27C-4EA0-9FDA-69F745CE5994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 flipV="1">
              <a:off x="1682750" y="1266825"/>
              <a:ext cx="190500" cy="63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045AD74-CF51-4A17-B70D-C775356E3F3B}"/>
                </a:ext>
              </a:extLst>
            </p:cNvPr>
            <p:cNvCxnSpPr>
              <a:stCxn id="9" idx="3"/>
              <a:endCxn id="10" idx="2"/>
            </p:cNvCxnSpPr>
            <p:nvPr/>
          </p:nvCxnSpPr>
          <p:spPr>
            <a:xfrm flipV="1">
              <a:off x="2781300" y="1168400"/>
              <a:ext cx="158750" cy="984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E1E0BF7-45B4-4BE0-B59B-819892056C0A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>
              <a:off x="3384550" y="1371600"/>
              <a:ext cx="711200" cy="1587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 descr="Answers">
              <a:extLst>
                <a:ext uri="{FF2B5EF4-FFF2-40B4-BE49-F238E27FC236}">
                  <a16:creationId xmlns:a16="http://schemas.microsoft.com/office/drawing/2014/main" id="{61976AEB-6C92-4525-8D6F-7925ADDC3411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CxnSpPr/>
            <p:nvPr/>
          </p:nvCxnSpPr>
          <p:spPr>
            <a:xfrm flipH="1" flipV="1">
              <a:off x="3365500" y="365125"/>
              <a:ext cx="1050925" cy="3270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24C897F-D19F-49AC-AD67-76942A97D781}"/>
                </a:ext>
              </a:extLst>
            </p:cNvPr>
            <p:cNvCxnSpPr/>
            <p:nvPr/>
          </p:nvCxnSpPr>
          <p:spPr>
            <a:xfrm flipH="1">
              <a:off x="3124200" y="482600"/>
              <a:ext cx="3175" cy="5270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: Elbow 19">
              <a:extLst>
                <a:ext uri="{FF2B5EF4-FFF2-40B4-BE49-F238E27FC236}">
                  <a16:creationId xmlns:a16="http://schemas.microsoft.com/office/drawing/2014/main" id="{A9E03334-3D7C-402C-8FE5-77ABA876690F}"/>
                </a:ext>
              </a:extLst>
            </p:cNvPr>
            <p:cNvCxnSpPr/>
            <p:nvPr/>
          </p:nvCxnSpPr>
          <p:spPr>
            <a:xfrm rot="16200000" flipH="1">
              <a:off x="3424238" y="198438"/>
              <a:ext cx="349250" cy="942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9C02FAB-6285-4431-AF72-023FF3831F5B}"/>
                </a:ext>
              </a:extLst>
            </p:cNvPr>
            <p:cNvCxnSpPr>
              <a:endCxn id="13" idx="2"/>
            </p:cNvCxnSpPr>
            <p:nvPr/>
          </p:nvCxnSpPr>
          <p:spPr>
            <a:xfrm flipV="1">
              <a:off x="4419600" y="977900"/>
              <a:ext cx="3175" cy="355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FBAC147-7B0E-4304-8181-3D8C2FD7A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40050" y="0"/>
              <a:ext cx="342900" cy="342900"/>
            </a:xfrm>
            <a:prstGeom prst="rect">
              <a:avLst/>
            </a:prstGeom>
          </p:spPr>
        </p:pic>
        <p:sp>
          <p:nvSpPr>
            <p:cNvPr id="23" name="TextBox 1038">
              <a:extLst>
                <a:ext uri="{FF2B5EF4-FFF2-40B4-BE49-F238E27FC236}">
                  <a16:creationId xmlns:a16="http://schemas.microsoft.com/office/drawing/2014/main" id="{0417BABE-BAB1-483B-91DA-5E0E238F7773}"/>
                </a:ext>
              </a:extLst>
            </p:cNvPr>
            <p:cNvSpPr txBox="1"/>
            <p:nvPr/>
          </p:nvSpPr>
          <p:spPr>
            <a:xfrm rot="1044562">
              <a:off x="3828180" y="381812"/>
              <a:ext cx="601666" cy="193415"/>
            </a:xfrm>
            <a:prstGeom prst="rect">
              <a:avLst/>
            </a:prstGeom>
            <a:solidFill>
              <a:schemeClr val="lt1"/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>
                  <a:solidFill>
                    <a:schemeClr val="accent1"/>
                  </a:solidFill>
                </a:rPr>
                <a:t>Answers</a:t>
              </a:r>
              <a:endParaRPr lang="en-US" sz="1100">
                <a:solidFill>
                  <a:schemeClr val="accent1"/>
                </a:solidFill>
              </a:endParaRPr>
            </a:p>
          </p:txBody>
        </p:sp>
        <p:sp>
          <p:nvSpPr>
            <p:cNvPr id="24" name="TextBox 1039">
              <a:extLst>
                <a:ext uri="{FF2B5EF4-FFF2-40B4-BE49-F238E27FC236}">
                  <a16:creationId xmlns:a16="http://schemas.microsoft.com/office/drawing/2014/main" id="{B0C48847-3076-43BB-BCF6-5BD2B6129740}"/>
                </a:ext>
              </a:extLst>
            </p:cNvPr>
            <p:cNvSpPr txBox="1"/>
            <p:nvPr/>
          </p:nvSpPr>
          <p:spPr>
            <a:xfrm>
              <a:off x="939800" y="819150"/>
              <a:ext cx="927100" cy="222250"/>
            </a:xfrm>
            <a:prstGeom prst="rect">
              <a:avLst/>
            </a:prstGeom>
            <a:solidFill>
              <a:schemeClr val="lt1"/>
            </a:solidFill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800">
                  <a:solidFill>
                    <a:schemeClr val="accent1"/>
                  </a:solidFill>
                </a:rPr>
                <a:t>512 or less tokens</a:t>
              </a:r>
            </a:p>
          </p:txBody>
        </p:sp>
      </p:grpSp>
      <p:pic>
        <p:nvPicPr>
          <p:cNvPr id="25" name="Picture 2" descr="Discover Tredence's New Brand Identity">
            <a:extLst>
              <a:ext uri="{FF2B5EF4-FFF2-40B4-BE49-F238E27FC236}">
                <a16:creationId xmlns:a16="http://schemas.microsoft.com/office/drawing/2014/main" id="{4420BD8D-C3A4-42B6-8795-4688C3849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6425" y="5591987"/>
            <a:ext cx="2105025" cy="951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2315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5885A-0AB0-4E3A-BADE-5D85E4E76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600076"/>
            <a:ext cx="10287000" cy="820737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latin typeface="+mn-lt"/>
              </a:rPr>
              <a:t>QUERYBOT IMPLEMENTATION</a:t>
            </a:r>
            <a:br>
              <a:rPr lang="en-US" sz="1100" b="1" u="sng" dirty="0">
                <a:solidFill>
                  <a:schemeClr val="accent1">
                    <a:lumMod val="50000"/>
                  </a:schemeClr>
                </a:solidFill>
              </a:rPr>
            </a:b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98584-C147-4A1D-8FCD-0CB96C2FE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300" y="1571625"/>
            <a:ext cx="9791700" cy="46863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sz="2000" b="1" u="sng" dirty="0">
                <a:solidFill>
                  <a:schemeClr val="accent1">
                    <a:lumMod val="50000"/>
                  </a:schemeClr>
                </a:solidFill>
              </a:rPr>
              <a:t>User Interaction: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Surveyors interact with the Query-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BoT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via a user-friendly interface.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Users input their queries related to marine assessments.</a:t>
            </a:r>
          </a:p>
          <a:p>
            <a:pPr algn="just"/>
            <a:r>
              <a:rPr lang="en-US" sz="2000" b="1" u="sng" dirty="0">
                <a:solidFill>
                  <a:schemeClr val="accent1">
                    <a:lumMod val="50000"/>
                  </a:schemeClr>
                </a:solidFill>
              </a:rPr>
              <a:t>Query Processing: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The Query-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BoT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processes user queries through the NLP model as LLMs using the framework 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Langchain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, promoting 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It identifies the query's category, extracts entities, and understands context.</a:t>
            </a:r>
          </a:p>
          <a:p>
            <a:pPr algn="just"/>
            <a:r>
              <a:rPr lang="en-US" sz="2000" b="1" u="sng" dirty="0">
                <a:solidFill>
                  <a:schemeClr val="accent1">
                    <a:lumMod val="50000"/>
                  </a:schemeClr>
                </a:solidFill>
              </a:rPr>
              <a:t>Response Generation: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The system retrieves relevant documents from the Vector knowledge base.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It generates context-aware responses based on the user's query which can be handled using LLM and 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Langchain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framework.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Responses may include document excerpts, links, or summarized information.</a:t>
            </a:r>
          </a:p>
          <a:p>
            <a:pPr algn="just"/>
            <a:r>
              <a:rPr lang="en-US" sz="2000" b="1" u="sng" dirty="0">
                <a:solidFill>
                  <a:schemeClr val="accent1">
                    <a:lumMod val="50000"/>
                  </a:schemeClr>
                </a:solidFill>
              </a:rPr>
              <a:t>User Feedback Loop: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Implement a feedback system for users to rate the responses' helpfulness.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Use feedback to continuously improve Query-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BoT's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performance.</a:t>
            </a:r>
          </a:p>
          <a:p>
            <a:pPr algn="just"/>
            <a:r>
              <a:rPr lang="en-US" sz="2000" b="1" u="sng" dirty="0">
                <a:solidFill>
                  <a:schemeClr val="accent1">
                    <a:lumMod val="50000"/>
                  </a:schemeClr>
                </a:solidFill>
              </a:rPr>
              <a:t>Deployment and Scaling: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Deploy the Query-</a:t>
            </a:r>
            <a:r>
              <a:rPr lang="en-US" sz="2000" dirty="0" err="1">
                <a:solidFill>
                  <a:schemeClr val="accent1">
                    <a:lumMod val="50000"/>
                  </a:schemeClr>
                </a:solidFill>
              </a:rPr>
              <a:t>BoT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 on a scalable infrastructure.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Ensure 24/7 availability to accommodate surveyors' diverse time zones based on acquired geographic locations.</a:t>
            </a:r>
          </a:p>
          <a:p>
            <a:pPr algn="just">
              <a:lnSpc>
                <a:spcPct val="100000"/>
              </a:lnSpc>
            </a:pP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4" name="Picture 2" descr="Discover Tredence's New Brand Identity">
            <a:extLst>
              <a:ext uri="{FF2B5EF4-FFF2-40B4-BE49-F238E27FC236}">
                <a16:creationId xmlns:a16="http://schemas.microsoft.com/office/drawing/2014/main" id="{A1BEBF6D-283E-4109-B33C-FADB8E919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0" y="5810646"/>
            <a:ext cx="2228850" cy="8945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56339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1164</TotalTime>
  <Words>374</Words>
  <Application>Microsoft Office PowerPoint</Application>
  <PresentationFormat>Widescreen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Query-Bot Proposal</vt:lpstr>
      <vt:lpstr>Problem Overview </vt:lpstr>
      <vt:lpstr>Solution Approach </vt:lpstr>
      <vt:lpstr>QUERYBOT IMPLEMENTATION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OBJECTIVE :</dc:title>
  <dc:creator>Trishala Singh</dc:creator>
  <cp:lastModifiedBy>Trishala Singh</cp:lastModifiedBy>
  <cp:revision>24</cp:revision>
  <dcterms:created xsi:type="dcterms:W3CDTF">2023-09-09T06:59:54Z</dcterms:created>
  <dcterms:modified xsi:type="dcterms:W3CDTF">2023-09-10T18:08:29Z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