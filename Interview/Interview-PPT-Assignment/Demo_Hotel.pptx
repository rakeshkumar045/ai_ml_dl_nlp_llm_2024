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HBVXmgWxPpn49zSLsCuI73ONh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-IN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" name="Google Shape;42;p3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idx="1"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7" name="Google Shape;47;p3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5" name="Google Shape;55;p36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7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3" name="Google Shape;63;p37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8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8" name="Google Shape;78;p39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0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0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7" name="Google Shape;87;p40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1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1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8" name="Google Shape;98;p4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8" name="Google Shape;108;p28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4" name="Google Shape;114;p4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3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0" name="Google Shape;120;p4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4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7" name="Google Shape;127;p44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2" name="Google Shape;132;p4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6"/>
          <p:cNvSpPr txBox="1"/>
          <p:nvPr>
            <p:ph idx="1"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6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6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7" name="Google Shape;137;p46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7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7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7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5" name="Google Shape;145;p47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8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8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8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3" name="Google Shape;153;p48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9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9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1" name="Google Shape;161;p49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0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50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50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8" name="Google Shape;168;p50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5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p5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5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5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2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2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8" name="Google Shape;188;p52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3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5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4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5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6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7"/>
          <p:cNvSpPr txBox="1"/>
          <p:nvPr>
            <p:ph idx="1"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8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9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0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6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6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6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6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6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2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6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6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6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3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6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6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2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2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27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2" name="Google Shape;102;p27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3" name="Google Shape;103;p27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4" name="Google Shape;104;p27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2" name="Google Shape;192;p29"/>
          <p:cNvSpPr txBox="1"/>
          <p:nvPr>
            <p:ph idx="2" type="body"/>
          </p:nvPr>
        </p:nvSpPr>
        <p:spPr>
          <a:xfrm>
            <a:off x="406440" y="990720"/>
            <a:ext cx="11378880" cy="40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"/>
          <p:cNvSpPr/>
          <p:nvPr/>
        </p:nvSpPr>
        <p:spPr>
          <a:xfrm>
            <a:off x="4665240" y="1603800"/>
            <a:ext cx="6320160" cy="4610160"/>
          </a:xfrm>
          <a:prstGeom prst="triangle">
            <a:avLst>
              <a:gd fmla="val 10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"/>
          <p:cNvSpPr/>
          <p:nvPr/>
        </p:nvSpPr>
        <p:spPr>
          <a:xfrm>
            <a:off x="4950360" y="1812240"/>
            <a:ext cx="6035040" cy="4402080"/>
          </a:xfrm>
          <a:prstGeom prst="triangle">
            <a:avLst>
              <a:gd fmla="val 100000" name="adj"/>
            </a:avLst>
          </a:prstGeom>
          <a:solidFill>
            <a:srgbClr val="337E8D"/>
          </a:solidFill>
          <a:ln cap="flat" cmpd="sng" w="25400">
            <a:solidFill>
              <a:srgbClr val="325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"/>
          <p:cNvSpPr/>
          <p:nvPr/>
        </p:nvSpPr>
        <p:spPr>
          <a:xfrm>
            <a:off x="-3168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248" name="Google Shape;248;p1"/>
          <p:cNvSpPr/>
          <p:nvPr/>
        </p:nvSpPr>
        <p:spPr>
          <a:xfrm>
            <a:off x="5389560" y="2132280"/>
            <a:ext cx="5596200" cy="4082040"/>
          </a:xfrm>
          <a:prstGeom prst="triangle">
            <a:avLst>
              <a:gd fmla="val 10000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"/>
          <p:cNvSpPr/>
          <p:nvPr/>
        </p:nvSpPr>
        <p:spPr>
          <a:xfrm>
            <a:off x="2065680" y="1220040"/>
            <a:ext cx="8175600" cy="1855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Hotel Booking Demand Analysis &amp; 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Cancelation Prediction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"/>
          <p:cNvSpPr/>
          <p:nvPr/>
        </p:nvSpPr>
        <p:spPr>
          <a:xfrm>
            <a:off x="9918720" y="413280"/>
            <a:ext cx="1963080" cy="430920"/>
          </a:xfrm>
          <a:prstGeom prst="roundRect">
            <a:avLst>
              <a:gd fmla="val 16667" name="adj"/>
            </a:avLst>
          </a:prstGeom>
          <a:solidFill>
            <a:srgbClr val="337E8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0"/>
              <a:buFont typeface="Calibri"/>
              <a:buNone/>
            </a:pPr>
            <a:r>
              <a:rPr b="0" i="0" lang="en-IN" sz="20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Jan-2024</a:t>
            </a:r>
            <a:endParaRPr b="0" i="0" sz="202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9873360" y="6319080"/>
            <a:ext cx="1963080" cy="430920"/>
          </a:xfrm>
          <a:prstGeom prst="roundRect">
            <a:avLst>
              <a:gd fmla="val 16667" name="adj"/>
            </a:avLst>
          </a:prstGeom>
          <a:solidFill>
            <a:srgbClr val="337E8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0"/>
              <a:buFont typeface="Calibri"/>
              <a:buNone/>
            </a:pPr>
            <a:r>
              <a:rPr b="0" i="0" lang="en-IN" sz="20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202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280" y="2499120"/>
            <a:ext cx="3664080" cy="366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260" name="Google Shape;260;p2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"/>
          <p:cNvSpPr/>
          <p:nvPr/>
        </p:nvSpPr>
        <p:spPr>
          <a:xfrm>
            <a:off x="340560" y="1437840"/>
            <a:ext cx="7086240" cy="995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12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Booking Demand Analysis &amp; Cancelation Prediction are divided into 2 Machine Learning problems.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Booking Cancelation Prediction: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Booking Cancellation Prediction is a machine learning  classiﬁcation problem statement that will try to predict  whether a booking will be canceled or a  booking will not be cancelled using machine  learning based on historical data.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Booking Demand Analysis Forecast: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Booking Demand Analysis Forecast is a machine learning  regression problem statement that will try to forecast  hotel more demand to generate revenue based on historical pattern based on historical data.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8080" y="1150200"/>
            <a:ext cx="3002760" cy="24339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"/>
          <p:cNvSpPr/>
          <p:nvPr/>
        </p:nvSpPr>
        <p:spPr>
          <a:xfrm>
            <a:off x="2249640" y="293400"/>
            <a:ext cx="81756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Project Detail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growth on a hundred dollar bill&#10;&#10;Description automatically generated" id="264" name="Google Shape;2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0440" y="3870720"/>
            <a:ext cx="3290400" cy="24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271" name="Google Shape;271;p3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"/>
          <p:cNvSpPr/>
          <p:nvPr/>
        </p:nvSpPr>
        <p:spPr>
          <a:xfrm>
            <a:off x="340560" y="1437840"/>
            <a:ext cx="7086240" cy="969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840" lvl="0" marL="2984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the growing trend of Hotel industry  is beneﬁcial for hotels however it  comes with it’s problem too.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problem is the rising  rate of cancellation in the hotel  industry.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Cancellation rate increased 30-40% from 2015-2017.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owner wants to improve operational efficiency and enhance the guest experience by optimizing room allocation.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goal is to assign rooms to guests in a way that maximizes guest satisfaction, minimizes wait times, and optimizes room occupancy rates.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"/>
          <p:cNvSpPr/>
          <p:nvPr/>
        </p:nvSpPr>
        <p:spPr>
          <a:xfrm>
            <a:off x="2249640" y="293400"/>
            <a:ext cx="81756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3"/>
          <p:cNvGrpSpPr/>
          <p:nvPr/>
        </p:nvGrpSpPr>
        <p:grpSpPr>
          <a:xfrm>
            <a:off x="8917200" y="1437840"/>
            <a:ext cx="2612520" cy="3354120"/>
            <a:chOff x="8917200" y="1437840"/>
            <a:chExt cx="2612520" cy="3354120"/>
          </a:xfrm>
        </p:grpSpPr>
        <p:pic>
          <p:nvPicPr>
            <p:cNvPr id="275" name="Google Shape;27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17200" y="1437840"/>
              <a:ext cx="2612520" cy="3354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85160" y="3666960"/>
              <a:ext cx="876240" cy="1125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283" name="Google Shape;283;p4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340560" y="1437840"/>
            <a:ext cx="7086240" cy="857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840" lvl="0" marL="2984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the growing trend of Hotel industry  is beneﬁcial for hotels however it  comes with it’s problem too.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problem is the rising  rate of cancellation in the hotel  industry.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Cancellation rate increased 30-40% from 2015-2017.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hotel business is currently facing a severe and sustained revenue loss, which poses a substantial threat to its financial health.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2249640" y="293400"/>
            <a:ext cx="8175600" cy="121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Background Information Problem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4"/>
          <p:cNvGrpSpPr/>
          <p:nvPr/>
        </p:nvGrpSpPr>
        <p:grpSpPr>
          <a:xfrm>
            <a:off x="8917200" y="1437840"/>
            <a:ext cx="2612520" cy="3354120"/>
            <a:chOff x="8917200" y="1437840"/>
            <a:chExt cx="2612520" cy="3354120"/>
          </a:xfrm>
        </p:grpSpPr>
        <p:pic>
          <p:nvPicPr>
            <p:cNvPr id="287" name="Google Shape;28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17200" y="1437840"/>
              <a:ext cx="2612520" cy="3354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85160" y="3666960"/>
              <a:ext cx="876240" cy="1125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295" name="Google Shape;295;p5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340560" y="1437840"/>
            <a:ext cx="7086240" cy="1004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12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hotel industry is a dynamic and highly competitive business. Hotels constantly face the challenge of optimizing their room occupancy rates while ensuring efficient resource allocation.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booking patterns, analyzing factors influencing cancellations, and making accurate predictions is critical for hotel management to enhance operational efficiency and revenue.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2400"/>
              <a:buFont typeface="Times New Roman"/>
              <a:buNone/>
            </a:pPr>
            <a:r>
              <a:rPr b="1" i="0" lang="en-IN" sz="2400" u="sng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Description: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9844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1B4587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1B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data set contains booking information for a city hotel and a resort hotel and includes information such as when the booking was made, length of stay, the number of adults, children, and/or babies, and the number of available parking spaces, among other things.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just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2249640" y="293400"/>
            <a:ext cx="81756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Background Information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5"/>
          <p:cNvGrpSpPr/>
          <p:nvPr/>
        </p:nvGrpSpPr>
        <p:grpSpPr>
          <a:xfrm>
            <a:off x="8376120" y="1152720"/>
            <a:ext cx="3607920" cy="4365720"/>
            <a:chOff x="8376120" y="1152720"/>
            <a:chExt cx="3607920" cy="4365720"/>
          </a:xfrm>
        </p:grpSpPr>
        <p:pic>
          <p:nvPicPr>
            <p:cNvPr id="299" name="Google Shape;29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76120" y="1152720"/>
              <a:ext cx="3607920" cy="4365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719000" y="1785240"/>
              <a:ext cx="296280" cy="3585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"/>
          <p:cNvSpPr/>
          <p:nvPr/>
        </p:nvSpPr>
        <p:spPr>
          <a:xfrm>
            <a:off x="970200" y="1152720"/>
            <a:ext cx="4177440" cy="49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∙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Summary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Univariate analysis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wise analysis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Channel wise analysis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 cancellation analysis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Timewise analysis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important questions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heatmap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82680" lvl="0" marL="398880" marR="0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07" name="Google Shape;307;p6"/>
          <p:cNvSpPr txBox="1"/>
          <p:nvPr>
            <p:ph idx="4294967295" type="title"/>
          </p:nvPr>
        </p:nvSpPr>
        <p:spPr>
          <a:xfrm>
            <a:off x="1847880" y="76320"/>
            <a:ext cx="950544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Points to Discuss</a:t>
            </a:r>
            <a:endParaRPr b="0" i="0" sz="3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14" name="Google Shape;314;p7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2249640" y="293400"/>
            <a:ext cx="81756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790200" y="1309680"/>
            <a:ext cx="6744240" cy="349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sp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discuss the analysis of given hotel bookings data set from 2015-2017.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be doing analysis of given data set in following ways :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6920" lvl="0" marL="299160" marR="0" rtl="0" algn="l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∙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Univariate analysis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6920" lvl="0" marL="299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 wise analysis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6920" lvl="0" marL="299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Channel wise analysis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6920" lvl="0" marL="299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 cancellation analysis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6920" lvl="0" marL="299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Timewise analysis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2600" marR="0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doing this we’ll try to find out key factors driving the hotel bookings trends.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23" name="Google Shape;323;p8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creenshot of a web page&#10;&#10;Description automatically generated" id="324" name="Google Shape;3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800" y="261720"/>
            <a:ext cx="10579680" cy="60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31" name="Google Shape;331;p9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2249640" y="293400"/>
            <a:ext cx="81756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Data Summary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887040" y="1283760"/>
            <a:ext cx="864072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16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F5C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124F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data set has different columns of variables crucial for hotel bookings. Some of them are: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hotel: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category of hotels, which are two resort hotel and city hotel.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21444"/>
              </a:lnSpc>
              <a:spcBef>
                <a:spcPts val="1488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is_cancelled 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 of column show the cancellation type. If the booking was cancelled or not.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21444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Values[0,1], where 0 indicates not cancelled.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1488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lead_time 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time between reservation and actual arrival</a:t>
            </a:r>
            <a:r>
              <a:rPr b="0" i="0" lang="en-IN" sz="14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1548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stayed_in_weekend_nights: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weekend nights stay per reservation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76000"/>
              </a:lnSpc>
              <a:spcBef>
                <a:spcPts val="28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stayed_in_weekday_nights: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weekday nights stay per reservation.  </a:t>
            </a:r>
            <a:r>
              <a:rPr b="0" i="0" lang="en-I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meal: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Meal preferences per reservation.[BB,FB,HB,SC,Undefined]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1712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 country of guest.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40" name="Google Shape;340;p10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2249640" y="293400"/>
            <a:ext cx="81756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Data Summary(Contd..)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887040" y="1283760"/>
            <a:ext cx="8640720" cy="5689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16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market_segment: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This column show how reservation was made and what is the purpose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of reservation. Eg, corporate means corporate trip, TA for travel agency.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14000"/>
              </a:lnSpc>
              <a:spcBef>
                <a:spcPts val="1607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distribution_channel: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The medium through booking was  made.[Direct,Corporate,TA/TO,undefined,GDS.]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1981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Is_repeated_guest: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Shows if the guest is who has arrived earlier or not.Values[0,1]--&gt;0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394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indicates no and 1 indicated yes person is repeated guest.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1981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days_in_waiting_list: </a:t>
            </a:r>
            <a:r>
              <a:rPr b="0" i="0" lang="en-IN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Number of days between actual booking and transact.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6920" marR="0" rtl="0" algn="l">
              <a:lnSpc>
                <a:spcPct val="100000"/>
              </a:lnSpc>
              <a:spcBef>
                <a:spcPts val="1987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customer_type</a:t>
            </a:r>
            <a:r>
              <a:rPr b="0" i="0" lang="en-IN" sz="1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: Type of customers( Transient, group, etc.)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48" name="Google Shape;348;p11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2097000" y="140760"/>
            <a:ext cx="81756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Data Summary FlowChart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440" y="1357200"/>
            <a:ext cx="9105120" cy="50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57" name="Google Shape;357;p12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ie chart of a hotel&#10;&#10;Description automatically generated" id="358" name="Google Shape;3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7760" y="563760"/>
            <a:ext cx="3246480" cy="3246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Description automatically generated" id="359" name="Google Shape;3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080" y="563760"/>
            <a:ext cx="5364000" cy="305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Description automatically generated" id="360" name="Google Shape;3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0520" y="3797640"/>
            <a:ext cx="4950360" cy="2758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Description automatically generated" id="361" name="Google Shape;36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3280" y="3988080"/>
            <a:ext cx="3768480" cy="2448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133920" y="1635120"/>
            <a:ext cx="3246480" cy="300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55 % of Resort hotel is more in demand as compared to City hotel.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 Hotel tend to be on the expensive side and most people will just stick with Resort hotel.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38038 bookings were canceled which is around 52%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68" name="Google Shape;368;p13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raph of different colored bars&#10;&#10;Description automatically generated with medium confidence" id="369" name="Google Shape;3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7760" y="658080"/>
            <a:ext cx="5028840" cy="29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lorful pie chart with numbers&#10;&#10;Description automatically generated" id="370" name="Google Shape;37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1200" y="658080"/>
            <a:ext cx="4253760" cy="2485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with different colored squares&#10;&#10;Description automatically generated" id="371" name="Google Shape;37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3200" y="3621600"/>
            <a:ext cx="5517000" cy="299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e chart with different colored numbers&#10;&#10;Description automatically generated" id="372" name="Google Shape;37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0360" y="3714120"/>
            <a:ext cx="4001040" cy="248544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/>
          <p:nvPr/>
        </p:nvSpPr>
        <p:spPr>
          <a:xfrm>
            <a:off x="0" y="1729080"/>
            <a:ext cx="2751840" cy="349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August is the most occupied (busiest) month with 10.90%.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January is the most unoccupied month with 5.17% bookings.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 (Bed &amp; Breakfast) is the most ordered meal which is around 76.9%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79" name="Google Shape;379;p14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0" y="1729080"/>
            <a:ext cx="2751840" cy="325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Around 45% of bookings are made via Online Travel Agents.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19% of bookings are made via Offline Travel Agents.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Transient type of customers are the more around 76%.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a bar graph&#10;&#10;Description automatically generated with medium confidence" id="381" name="Google Shape;3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760" y="622800"/>
            <a:ext cx="5342760" cy="260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e chart with numbers and a few different colored circles&#10;&#10;Description automatically generated" id="382" name="Google Shape;38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4280" y="626040"/>
            <a:ext cx="4407120" cy="244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with different colored squares&#10;&#10;Description automatically generated" id="383" name="Google Shape;38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1440" y="3626640"/>
            <a:ext cx="4987080" cy="262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e chart with numbers and a few percentages&#10;&#10;Description automatically generated" id="384" name="Google Shape;38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98520" y="3834000"/>
            <a:ext cx="4527360" cy="23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390" name="Google Shape;390;p15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0" y="1729080"/>
            <a:ext cx="2751840" cy="2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Around 84% of bookings are Non-Deposit.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58% of bookings are more demand for A room type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with different colored squares&#10;&#10;Description automatically generated" id="392" name="Google Shape;3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2200" y="356400"/>
            <a:ext cx="5896440" cy="3037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red pie chart&#10;&#10;Description automatically generated" id="393" name="Google Shape;3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6880" y="740520"/>
            <a:ext cx="4754880" cy="21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different colored squares&#10;&#10;Description automatically generated" id="394" name="Google Shape;39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3920" y="3713760"/>
            <a:ext cx="5236920" cy="261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e chart with numbers and a number of percentages&#10;&#10;Description automatically generated" id="395" name="Google Shape;39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1560" y="3852000"/>
            <a:ext cx="5020200" cy="2551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01" name="Google Shape;401;p16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0" y="1729080"/>
            <a:ext cx="3337200" cy="422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bookings were in Resort Hotel.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Cancelations in Resort hotel is less compared to city hotel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 bookings were in the year 2016 and bookings were done in Resort.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bookings were done in the month of May, July, August.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a hotel&#10;&#10;Description automatically generated" id="403" name="Google Shape;4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5200" y="319680"/>
            <a:ext cx="7526520" cy="3346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graph&#10;&#10;Description automatically generated" id="404" name="Google Shape;4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2240" y="3844440"/>
            <a:ext cx="7772040" cy="30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10" name="Google Shape;410;p17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265320" y="1656000"/>
            <a:ext cx="3337200" cy="374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 end day has very less arrivals.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Bookings are more in Resort hotel.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 weekend nights were booked in City Hotel.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weekend nights which were booked were canceled.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blue and white vertical bars&#10;&#10;Description automatically generated" id="412" name="Google Shape;4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60480"/>
            <a:ext cx="7772040" cy="380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Description automatically generated" id="413" name="Google Shape;4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7440" y="3946320"/>
            <a:ext cx="7772040" cy="273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19" name="Google Shape;419;p18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265320" y="1656000"/>
            <a:ext cx="3337200" cy="374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Weekday night stays were more in City Hotel.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cancelations were observed.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Adults who were 2 in number are more and preferred resort hotel rather than city hotel, infact more than half the visitors even canceled the bookings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-up of a graph&#10;&#10;Description automatically generated" id="421" name="Google Shape;4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7440" y="348840"/>
            <a:ext cx="7772040" cy="231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Description automatically generated" id="422" name="Google Shape;4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3760" y="3209400"/>
            <a:ext cx="7982280" cy="350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28" name="Google Shape;428;p19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>
            <a:off x="182880" y="1782360"/>
            <a:ext cx="3337200" cy="3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visitors are from western europe, namely France,UK and Portugal being the highest.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Prices of resort hotel are much higher. 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Prices of city hotel do not fluctuate that much. 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map of the world&#10;&#10;Description automatically generated" id="430" name="Google Shape;4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6520" y="301680"/>
            <a:ext cx="7772040" cy="332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with blue and orange lines&#10;&#10;Description automatically generated" id="431" name="Google Shape;4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680" y="3429000"/>
            <a:ext cx="7256880" cy="312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37" name="Google Shape;437;p20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0"/>
          <p:cNvSpPr/>
          <p:nvPr/>
        </p:nvSpPr>
        <p:spPr>
          <a:xfrm>
            <a:off x="182880" y="1782360"/>
            <a:ext cx="3858480" cy="27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Resort Hotel, ADR is more expensive August and for City Hotel, ADR is slightly more during November, Decemeber, January, February, March, April, May &amp; June.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a line&#10;&#10;Description automatically generated with medium confidence" id="439" name="Google Shape;4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480" y="795600"/>
            <a:ext cx="8144280" cy="405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45" name="Google Shape;445;p21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creenshot of a graph&#10;&#10;Description automatically generated" id="446" name="Google Shape;4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4720" y="1600920"/>
            <a:ext cx="6337080" cy="4533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1"/>
          <p:cNvSpPr/>
          <p:nvPr/>
        </p:nvSpPr>
        <p:spPr>
          <a:xfrm>
            <a:off x="3048840" y="567360"/>
            <a:ext cx="633708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Model Building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"/>
          <p:cNvSpPr/>
          <p:nvPr/>
        </p:nvSpPr>
        <p:spPr>
          <a:xfrm>
            <a:off x="0" y="0"/>
            <a:ext cx="2096640" cy="115236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53" name="Google Shape;453;p22"/>
          <p:cNvSpPr/>
          <p:nvPr/>
        </p:nvSpPr>
        <p:spPr>
          <a:xfrm>
            <a:off x="1413000" y="883440"/>
            <a:ext cx="18432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182880" y="1782360"/>
            <a:ext cx="2697120" cy="15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model is XGboost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3048840" y="567360"/>
            <a:ext cx="633708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3700"/>
              <a:buFont typeface="Calibri"/>
              <a:buNone/>
            </a:pPr>
            <a:r>
              <a:rPr b="1" i="0" lang="en-IN" sz="3700" u="none" cap="none" strike="noStrike">
                <a:solidFill>
                  <a:srgbClr val="337E8D"/>
                </a:solidFill>
                <a:latin typeface="Calibri"/>
                <a:ea typeface="Calibri"/>
                <a:cs typeface="Calibri"/>
                <a:sym typeface="Calibri"/>
              </a:rPr>
              <a:t>Model Building</a:t>
            </a:r>
            <a:endParaRPr b="0" i="0" sz="3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with different colored bars&#10;&#10;Description automatically generated with medium confidence" id="456" name="Google Shape;4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00" y="1499760"/>
            <a:ext cx="7772040" cy="4619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"/>
          <p:cNvSpPr txBox="1"/>
          <p:nvPr>
            <p:ph idx="4294967295" type="title"/>
          </p:nvPr>
        </p:nvSpPr>
        <p:spPr>
          <a:xfrm>
            <a:off x="0" y="0"/>
            <a:ext cx="1219176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40"/>
              <a:buFont typeface="Times New Roman"/>
              <a:buNone/>
            </a:pPr>
            <a:r>
              <a:rPr b="1" i="0" lang="en-IN" sz="374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0" i="0" sz="37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estions" id="462" name="Google Shape;4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9200" y="1463760"/>
            <a:ext cx="4653000" cy="46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"/>
          <p:cNvSpPr/>
          <p:nvPr/>
        </p:nvSpPr>
        <p:spPr>
          <a:xfrm>
            <a:off x="4670640" y="1371600"/>
            <a:ext cx="7521120" cy="5486040"/>
          </a:xfrm>
          <a:prstGeom prst="triangle">
            <a:avLst>
              <a:gd fmla="val 10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5010120" y="1619280"/>
            <a:ext cx="7181640" cy="5238360"/>
          </a:xfrm>
          <a:prstGeom prst="triangle">
            <a:avLst>
              <a:gd fmla="val 100000" name="adj"/>
            </a:avLst>
          </a:prstGeom>
          <a:solidFill>
            <a:srgbClr val="337E8D"/>
          </a:solidFill>
          <a:ln cap="flat" cmpd="sng" w="25400">
            <a:solidFill>
              <a:srgbClr val="32549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4"/>
          <p:cNvSpPr/>
          <p:nvPr/>
        </p:nvSpPr>
        <p:spPr>
          <a:xfrm rot="10800000">
            <a:off x="-720" y="-360"/>
            <a:ext cx="3619080" cy="2781000"/>
          </a:xfrm>
          <a:custGeom>
            <a:rect b="b" l="l" r="r" t="t"/>
            <a:pathLst>
              <a:path extrusionOk="0" h="4002817" w="5848350">
                <a:moveTo>
                  <a:pt x="0" y="4002817"/>
                </a:moveTo>
                <a:lnTo>
                  <a:pt x="5848350" y="0"/>
                </a:lnTo>
                <a:lnTo>
                  <a:pt x="5848350" y="4002817"/>
                </a:lnTo>
                <a:lnTo>
                  <a:pt x="0" y="4002817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</p:sp>
      <p:sp>
        <p:nvSpPr>
          <p:cNvPr id="470" name="Google Shape;470;p24"/>
          <p:cNvSpPr/>
          <p:nvPr/>
        </p:nvSpPr>
        <p:spPr>
          <a:xfrm>
            <a:off x="1820880" y="0"/>
            <a:ext cx="2495160" cy="1371240"/>
          </a:xfrm>
          <a:custGeom>
            <a:rect b="b" l="l" r="r" t="t"/>
            <a:pathLst>
              <a:path extrusionOk="0" h="1371600" w="2495550">
                <a:moveTo>
                  <a:pt x="0" y="1371600"/>
                </a:moveTo>
                <a:lnTo>
                  <a:pt x="1771354" y="0"/>
                </a:lnTo>
                <a:lnTo>
                  <a:pt x="2495550" y="0"/>
                </a:lnTo>
                <a:lnTo>
                  <a:pt x="87659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337E8D"/>
          </a:solidFill>
          <a:ln>
            <a:noFill/>
          </a:ln>
        </p:spPr>
      </p:sp>
      <p:sp>
        <p:nvSpPr>
          <p:cNvPr id="471" name="Google Shape;471;p24"/>
          <p:cNvSpPr/>
          <p:nvPr/>
        </p:nvSpPr>
        <p:spPr>
          <a:xfrm>
            <a:off x="5532480" y="2000160"/>
            <a:ext cx="6659280" cy="4857480"/>
          </a:xfrm>
          <a:prstGeom prst="triangle">
            <a:avLst>
              <a:gd fmla="val 10000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456126" y="514450"/>
            <a:ext cx="1090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1086120" y="2275200"/>
            <a:ext cx="793980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8000"/>
              <a:buFont typeface="Arial"/>
              <a:buNone/>
            </a:pPr>
            <a:r>
              <a:rPr b="1" i="0" lang="en-IN" sz="8000" u="none" cap="none" strike="noStrike">
                <a:solidFill>
                  <a:srgbClr val="337E8D"/>
                </a:solidFill>
                <a:latin typeface="Arial"/>
                <a:ea typeface="Arial"/>
                <a:cs typeface="Arial"/>
                <a:sym typeface="Arial"/>
              </a:rPr>
              <a:t>Thank You All</a:t>
            </a:r>
            <a:endParaRPr b="0" i="0" sz="8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883080" y="5386680"/>
            <a:ext cx="2336040" cy="512640"/>
          </a:xfrm>
          <a:prstGeom prst="roundRect">
            <a:avLst>
              <a:gd fmla="val 16667" name="adj"/>
            </a:avLst>
          </a:prstGeom>
          <a:solidFill>
            <a:srgbClr val="337E8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by: XX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883080" y="6055560"/>
            <a:ext cx="2336040" cy="512640"/>
          </a:xfrm>
          <a:prstGeom prst="roundRect">
            <a:avLst>
              <a:gd fmla="val 16667" name="adj"/>
            </a:avLst>
          </a:prstGeom>
          <a:solidFill>
            <a:srgbClr val="337E8D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Directed by: XX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1477080" y="3622320"/>
            <a:ext cx="6417360" cy="51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7E8D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337E8D"/>
                </a:solidFill>
                <a:latin typeface="Arial"/>
                <a:ea typeface="Arial"/>
                <a:cs typeface="Arial"/>
                <a:sym typeface="Arial"/>
              </a:rPr>
              <a:t>Business Plan PowerPoint Template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2017-12-25T00:58:48Z</dcterms:created>
  <dc:creator>Microsoft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Widescreen</vt:lpwstr>
  </property>
  <property fmtid="{D5CDD505-2E9C-101B-9397-08002B2CF9AE}" pid="4" name="Slides">
    <vt:i4>24</vt:i4>
  </property>
</Properties>
</file>