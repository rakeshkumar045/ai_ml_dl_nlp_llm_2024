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Thin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EB Garamond"/>
      <p:regular r:id="rId32"/>
      <p:bold r:id="rId33"/>
      <p:italic r:id="rId34"/>
      <p:boldItalic r:id="rId35"/>
    </p:embeddedFont>
    <p:embeddedFont>
      <p:font typeface="Poppins Medium"/>
      <p:regular r:id="rId36"/>
      <p:bold r:id="rId37"/>
      <p:italic r:id="rId38"/>
      <p:boldItalic r:id="rId39"/>
    </p:embeddedFont>
    <p:embeddedFont>
      <p:font typeface="Arial Black"/>
      <p:regular r:id="rId40"/>
    </p:embeddedFont>
    <p:embeddedFont>
      <p:font typeface="Poppins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font" Target="fonts/Roboto-regular.fntdata"/><Relationship Id="rId42" Type="http://schemas.openxmlformats.org/officeDocument/2006/relationships/font" Target="fonts/PoppinsSemiBold-bold.fntdata"/><Relationship Id="rId41" Type="http://schemas.openxmlformats.org/officeDocument/2006/relationships/font" Target="fonts/PoppinsSemiBold-regular.fntdata"/><Relationship Id="rId22" Type="http://schemas.openxmlformats.org/officeDocument/2006/relationships/font" Target="fonts/Roboto-italic.fntdata"/><Relationship Id="rId44" Type="http://schemas.openxmlformats.org/officeDocument/2006/relationships/font" Target="fonts/PoppinsSemiBold-boldItalic.fntdata"/><Relationship Id="rId21" Type="http://schemas.openxmlformats.org/officeDocument/2006/relationships/font" Target="fonts/Roboto-bold.fntdata"/><Relationship Id="rId43" Type="http://schemas.openxmlformats.org/officeDocument/2006/relationships/font" Target="fonts/PoppinsSemiBold-italic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Roboto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EBGaramond-bold.fntdata"/><Relationship Id="rId10" Type="http://schemas.openxmlformats.org/officeDocument/2006/relationships/slide" Target="slides/slide4.xml"/><Relationship Id="rId32" Type="http://schemas.openxmlformats.org/officeDocument/2006/relationships/font" Target="fonts/EBGaramond-regular.fntdata"/><Relationship Id="rId13" Type="http://schemas.openxmlformats.org/officeDocument/2006/relationships/slide" Target="slides/slide7.xml"/><Relationship Id="rId35" Type="http://schemas.openxmlformats.org/officeDocument/2006/relationships/font" Target="fonts/EBGaramond-boldItalic.fntdata"/><Relationship Id="rId12" Type="http://schemas.openxmlformats.org/officeDocument/2006/relationships/slide" Target="slides/slide6.xml"/><Relationship Id="rId34" Type="http://schemas.openxmlformats.org/officeDocument/2006/relationships/font" Target="fonts/EBGaramond-italic.fntdata"/><Relationship Id="rId15" Type="http://schemas.openxmlformats.org/officeDocument/2006/relationships/slide" Target="slides/slide9.xml"/><Relationship Id="rId37" Type="http://schemas.openxmlformats.org/officeDocument/2006/relationships/font" Target="fonts/PoppinsMedium-bold.fntdata"/><Relationship Id="rId14" Type="http://schemas.openxmlformats.org/officeDocument/2006/relationships/slide" Target="slides/slide8.xml"/><Relationship Id="rId36" Type="http://schemas.openxmlformats.org/officeDocument/2006/relationships/font" Target="fonts/PoppinsMedium-regular.fntdata"/><Relationship Id="rId17" Type="http://schemas.openxmlformats.org/officeDocument/2006/relationships/font" Target="fonts/RobotoThin-bold.fntdata"/><Relationship Id="rId39" Type="http://schemas.openxmlformats.org/officeDocument/2006/relationships/font" Target="fonts/PoppinsMedium-boldItalic.fntdata"/><Relationship Id="rId16" Type="http://schemas.openxmlformats.org/officeDocument/2006/relationships/font" Target="fonts/RobotoThin-regular.fntdata"/><Relationship Id="rId38" Type="http://schemas.openxmlformats.org/officeDocument/2006/relationships/font" Target="fonts/PoppinsMedium-italic.fntdata"/><Relationship Id="rId19" Type="http://schemas.openxmlformats.org/officeDocument/2006/relationships/font" Target="fonts/RobotoThin-boldItalic.fntdata"/><Relationship Id="rId18" Type="http://schemas.openxmlformats.org/officeDocument/2006/relationships/font" Target="fonts/RobotoTh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627819ac39_0_2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627819ac3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627819ac39_0_2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627819ac3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62af31dd22_0_2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62af31dd22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27819ac3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627819ac3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a5ea717bc0_0_14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a5ea717bc0_0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627819ac39_0_1051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627819ac39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627819ac39_0_2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2627819ac39_0_2047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3971925" cy="5157788"/>
          </a:xfrm>
          <a:custGeom>
            <a:rect b="b" l="l" r="r" t="t"/>
            <a:pathLst>
              <a:path extrusionOk="0" h="6877050" w="529590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1200151" y="879830"/>
            <a:ext cx="6893719" cy="4278579"/>
          </a:xfrm>
          <a:custGeom>
            <a:rect b="b" l="l" r="r" t="t"/>
            <a:pathLst>
              <a:path extrusionOk="0" h="5704772" w="9191625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096691" y="0"/>
            <a:ext cx="5102356" cy="4047356"/>
          </a:xfrm>
          <a:custGeom>
            <a:rect b="b" l="l" r="r" t="t"/>
            <a:pathLst>
              <a:path extrusionOk="0" h="5396474" w="6803142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0" name="Google Shape;90;p14"/>
          <p:cNvSpPr txBox="1"/>
          <p:nvPr>
            <p:ph type="ctrTitle"/>
          </p:nvPr>
        </p:nvSpPr>
        <p:spPr>
          <a:xfrm>
            <a:off x="2552319" y="52181"/>
            <a:ext cx="40395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Autofit/>
          </a:bodyPr>
          <a:lstStyle>
            <a:lvl1pPr lvl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3262122" y="2441450"/>
            <a:ext cx="26196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2990088" y="526276"/>
            <a:ext cx="55794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-4176" y="-2088"/>
            <a:ext cx="2582466" cy="5168503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7483" y="-2088"/>
            <a:ext cx="1300808" cy="38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1291216" y="-2088"/>
            <a:ext cx="1287086" cy="1290640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-4176" y="2580378"/>
            <a:ext cx="2582466" cy="2586038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843" y="2580378"/>
            <a:ext cx="1289449" cy="1293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990088" y="1553486"/>
            <a:ext cx="28599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2990088" y="2157984"/>
            <a:ext cx="28530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3" type="body"/>
          </p:nvPr>
        </p:nvSpPr>
        <p:spPr>
          <a:xfrm>
            <a:off x="5893408" y="1553486"/>
            <a:ext cx="2676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3" name="Google Shape;103;p15"/>
          <p:cNvSpPr txBox="1"/>
          <p:nvPr>
            <p:ph idx="4" type="body"/>
          </p:nvPr>
        </p:nvSpPr>
        <p:spPr>
          <a:xfrm>
            <a:off x="5893408" y="2157984"/>
            <a:ext cx="26763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1547127" y="514856"/>
            <a:ext cx="5830972" cy="4644763"/>
          </a:xfrm>
          <a:custGeom>
            <a:rect b="b" l="l" r="r" t="t"/>
            <a:pathLst>
              <a:path extrusionOk="0" h="6193018" w="7774629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8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707689" y="1"/>
            <a:ext cx="1705251" cy="2360999"/>
          </a:xfrm>
          <a:custGeom>
            <a:rect b="b" l="l" r="r" t="t"/>
            <a:pathLst>
              <a:path extrusionOk="0" h="3147998" w="227366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412939" y="1"/>
            <a:ext cx="1691196" cy="2356168"/>
          </a:xfrm>
          <a:custGeom>
            <a:rect b="b" l="l" r="r" t="t"/>
            <a:pathLst>
              <a:path extrusionOk="0" h="3141557" w="2254928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296798" y="1"/>
            <a:ext cx="2219402" cy="1764595"/>
          </a:xfrm>
          <a:custGeom>
            <a:rect b="b" l="l" r="r" t="t"/>
            <a:pathLst>
              <a:path extrusionOk="0" h="2352793" w="295920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043140" y="2347997"/>
            <a:ext cx="2329686" cy="2811623"/>
          </a:xfrm>
          <a:custGeom>
            <a:rect b="b" l="l" r="r" t="t"/>
            <a:pathLst>
              <a:path extrusionOk="0" h="3748831" w="3106248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820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2347996"/>
            <a:ext cx="1050480" cy="2811624"/>
          </a:xfrm>
          <a:custGeom>
            <a:rect b="b" l="l" r="r" t="t"/>
            <a:pathLst>
              <a:path extrusionOk="0" h="3748832" w="140064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2171700" y="1274693"/>
            <a:ext cx="48006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2171700" y="3449211"/>
            <a:ext cx="4800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569214" y="526276"/>
            <a:ext cx="80034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997492" y="1777701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8" name="Google Shape;118;p17"/>
          <p:cNvSpPr/>
          <p:nvPr>
            <p:ph idx="2" type="pic"/>
          </p:nvPr>
        </p:nvSpPr>
        <p:spPr>
          <a:xfrm>
            <a:off x="1004351" y="1784559"/>
            <a:ext cx="528000" cy="5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514004" y="2068830"/>
            <a:ext cx="1509000" cy="21201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7"/>
          <p:cNvSpPr/>
          <p:nvPr/>
        </p:nvSpPr>
        <p:spPr>
          <a:xfrm>
            <a:off x="514004" y="3048626"/>
            <a:ext cx="1509000" cy="11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1" name="Google Shape;121;p17"/>
          <p:cNvSpPr txBox="1"/>
          <p:nvPr>
            <p:ph idx="3" type="body"/>
          </p:nvPr>
        </p:nvSpPr>
        <p:spPr>
          <a:xfrm>
            <a:off x="548294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2659172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3" name="Google Shape;123;p17"/>
          <p:cNvSpPr/>
          <p:nvPr>
            <p:ph idx="4" type="pic"/>
          </p:nvPr>
        </p:nvSpPr>
        <p:spPr>
          <a:xfrm>
            <a:off x="2666030" y="1784559"/>
            <a:ext cx="528000" cy="52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24" name="Google Shape;124;p17"/>
          <p:cNvSpPr txBox="1"/>
          <p:nvPr>
            <p:ph idx="5" type="body"/>
          </p:nvPr>
        </p:nvSpPr>
        <p:spPr>
          <a:xfrm>
            <a:off x="2175683" y="2067402"/>
            <a:ext cx="1509000" cy="2121600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5" name="Google Shape;125;p17"/>
          <p:cNvSpPr/>
          <p:nvPr/>
        </p:nvSpPr>
        <p:spPr>
          <a:xfrm>
            <a:off x="2175683" y="3048626"/>
            <a:ext cx="1509000" cy="11385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6" name="Google Shape;126;p17"/>
          <p:cNvSpPr txBox="1"/>
          <p:nvPr>
            <p:ph idx="6" type="body"/>
          </p:nvPr>
        </p:nvSpPr>
        <p:spPr>
          <a:xfrm>
            <a:off x="2209973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17"/>
          <p:cNvSpPr/>
          <p:nvPr/>
        </p:nvSpPr>
        <p:spPr>
          <a:xfrm>
            <a:off x="4320851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8" name="Google Shape;128;p17"/>
          <p:cNvSpPr/>
          <p:nvPr>
            <p:ph idx="7" type="pic"/>
          </p:nvPr>
        </p:nvSpPr>
        <p:spPr>
          <a:xfrm>
            <a:off x="4327710" y="1784559"/>
            <a:ext cx="528000" cy="5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9" name="Google Shape;129;p17"/>
          <p:cNvSpPr txBox="1"/>
          <p:nvPr>
            <p:ph idx="8" type="body"/>
          </p:nvPr>
        </p:nvSpPr>
        <p:spPr>
          <a:xfrm>
            <a:off x="3837363" y="2067401"/>
            <a:ext cx="1509000" cy="21216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0" name="Google Shape;130;p17"/>
          <p:cNvSpPr/>
          <p:nvPr/>
        </p:nvSpPr>
        <p:spPr>
          <a:xfrm>
            <a:off x="3837363" y="3048626"/>
            <a:ext cx="1509000" cy="11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17"/>
          <p:cNvSpPr txBox="1"/>
          <p:nvPr>
            <p:ph idx="9" type="body"/>
          </p:nvPr>
        </p:nvSpPr>
        <p:spPr>
          <a:xfrm>
            <a:off x="3871653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17"/>
          <p:cNvSpPr/>
          <p:nvPr/>
        </p:nvSpPr>
        <p:spPr>
          <a:xfrm>
            <a:off x="5982530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17"/>
          <p:cNvSpPr/>
          <p:nvPr>
            <p:ph idx="13" type="pic"/>
          </p:nvPr>
        </p:nvSpPr>
        <p:spPr>
          <a:xfrm>
            <a:off x="5989390" y="1784559"/>
            <a:ext cx="528000" cy="52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4" name="Google Shape;134;p17"/>
          <p:cNvSpPr txBox="1"/>
          <p:nvPr>
            <p:ph idx="14" type="body"/>
          </p:nvPr>
        </p:nvSpPr>
        <p:spPr>
          <a:xfrm>
            <a:off x="5499043" y="2068830"/>
            <a:ext cx="1509000" cy="2120100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5" name="Google Shape;135;p17"/>
          <p:cNvSpPr/>
          <p:nvPr/>
        </p:nvSpPr>
        <p:spPr>
          <a:xfrm>
            <a:off x="5499043" y="3048626"/>
            <a:ext cx="1509000" cy="11385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6" name="Google Shape;136;p17"/>
          <p:cNvSpPr txBox="1"/>
          <p:nvPr>
            <p:ph idx="15" type="body"/>
          </p:nvPr>
        </p:nvSpPr>
        <p:spPr>
          <a:xfrm>
            <a:off x="5533333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/>
          <p:nvPr/>
        </p:nvSpPr>
        <p:spPr>
          <a:xfrm>
            <a:off x="7642514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8" name="Google Shape;138;p17"/>
          <p:cNvSpPr/>
          <p:nvPr>
            <p:ph idx="16" type="pic"/>
          </p:nvPr>
        </p:nvSpPr>
        <p:spPr>
          <a:xfrm>
            <a:off x="7651069" y="1784559"/>
            <a:ext cx="528000" cy="5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9" name="Google Shape;139;p17"/>
          <p:cNvSpPr txBox="1"/>
          <p:nvPr>
            <p:ph idx="17" type="body"/>
          </p:nvPr>
        </p:nvSpPr>
        <p:spPr>
          <a:xfrm>
            <a:off x="7160722" y="2068830"/>
            <a:ext cx="1509000" cy="21201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0" name="Google Shape;140;p17"/>
          <p:cNvSpPr/>
          <p:nvPr/>
        </p:nvSpPr>
        <p:spPr>
          <a:xfrm>
            <a:off x="7160722" y="3048626"/>
            <a:ext cx="1509000" cy="11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1" name="Google Shape;141;p17"/>
          <p:cNvSpPr txBox="1"/>
          <p:nvPr>
            <p:ph idx="18" type="body"/>
          </p:nvPr>
        </p:nvSpPr>
        <p:spPr>
          <a:xfrm>
            <a:off x="7195012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1" y="0"/>
            <a:ext cx="1682120" cy="1577225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4" name="Google Shape;144;p18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5" name="Google Shape;145;p18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0" y="0"/>
            <a:ext cx="6711554" cy="5143500"/>
          </a:xfrm>
          <a:custGeom>
            <a:rect b="b" l="l" r="r" t="t"/>
            <a:pathLst>
              <a:path extrusionOk="0" h="6858000" w="8948738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653970" y="9856"/>
            <a:ext cx="3490031" cy="5123788"/>
          </a:xfrm>
          <a:custGeom>
            <a:rect b="b" l="l" r="r" t="t"/>
            <a:pathLst>
              <a:path extrusionOk="0" h="6831717" w="4653374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2926" y="-18781"/>
            <a:ext cx="2574144" cy="2574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>
            <p:ph type="ctrTitle"/>
          </p:nvPr>
        </p:nvSpPr>
        <p:spPr>
          <a:xfrm>
            <a:off x="1145286" y="245992"/>
            <a:ext cx="3413100" cy="18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Autofit/>
          </a:bodyPr>
          <a:lstStyle>
            <a:lvl1pPr lv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>
            <a:off x="1159002" y="2135124"/>
            <a:ext cx="34131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575" spcFirstLastPara="1" rIns="68575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0"/>
          <p:cNvGrpSpPr/>
          <p:nvPr/>
        </p:nvGrpSpPr>
        <p:grpSpPr>
          <a:xfrm>
            <a:off x="4839375" y="2553839"/>
            <a:ext cx="4304985" cy="2601105"/>
            <a:chOff x="5009037" y="2525712"/>
            <a:chExt cx="7170194" cy="4332287"/>
          </a:xfrm>
        </p:grpSpPr>
        <p:sp>
          <p:nvSpPr>
            <p:cNvPr id="155" name="Google Shape;155;p20"/>
            <p:cNvSpPr/>
            <p:nvPr/>
          </p:nvSpPr>
          <p:spPr>
            <a:xfrm>
              <a:off x="5009037" y="2525712"/>
              <a:ext cx="3601721" cy="4332287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8589536" y="2525712"/>
              <a:ext cx="3589695" cy="4332287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57" name="Google Shape;157;p20"/>
          <p:cNvGrpSpPr/>
          <p:nvPr/>
        </p:nvGrpSpPr>
        <p:grpSpPr>
          <a:xfrm rot="10800000">
            <a:off x="4848844" y="-206"/>
            <a:ext cx="4304984" cy="2601105"/>
            <a:chOff x="5183405" y="2678112"/>
            <a:chExt cx="7170193" cy="4332287"/>
          </a:xfrm>
        </p:grpSpPr>
        <p:sp>
          <p:nvSpPr>
            <p:cNvPr id="158" name="Google Shape;158;p20"/>
            <p:cNvSpPr/>
            <p:nvPr/>
          </p:nvSpPr>
          <p:spPr>
            <a:xfrm>
              <a:off x="5183405" y="2678112"/>
              <a:ext cx="3601721" cy="4332287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8763903" y="2678112"/>
              <a:ext cx="3589695" cy="4332287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60" name="Google Shape;160;p20"/>
          <p:cNvSpPr/>
          <p:nvPr/>
        </p:nvSpPr>
        <p:spPr>
          <a:xfrm>
            <a:off x="5731889" y="3433243"/>
            <a:ext cx="581266" cy="581266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1124712" y="67089"/>
            <a:ext cx="42702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1124712" y="2077974"/>
            <a:ext cx="4270200" cy="23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obj">
  <p:cSld name="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0" y="2570502"/>
            <a:ext cx="2572650" cy="2572999"/>
          </a:xfrm>
          <a:custGeom>
            <a:rect b="b" l="l" r="r" t="t"/>
            <a:pathLst>
              <a:path extrusionOk="0" h="3430665" w="343020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0" y="2570502"/>
            <a:ext cx="2572650" cy="2572999"/>
          </a:xfrm>
          <a:custGeom>
            <a:rect b="b" l="l" r="r" t="t"/>
            <a:pathLst>
              <a:path extrusionOk="0" h="3430665" w="343020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1" y="1"/>
            <a:ext cx="2567839" cy="2578009"/>
          </a:xfrm>
          <a:custGeom>
            <a:rect b="b" l="l" r="r" t="t"/>
            <a:pathLst>
              <a:path extrusionOk="0" h="3437345" w="342378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1" y="652"/>
            <a:ext cx="2567839" cy="2577358"/>
          </a:xfrm>
          <a:custGeom>
            <a:rect b="b" l="l" r="r" t="t"/>
            <a:pathLst>
              <a:path extrusionOk="0" h="3436477" w="3423785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3168396" y="611257"/>
            <a:ext cx="5074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11" type="ftr"/>
          </p:nvPr>
        </p:nvSpPr>
        <p:spPr>
          <a:xfrm>
            <a:off x="3168396" y="342900"/>
            <a:ext cx="240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12" type="sldNum"/>
          </p:nvPr>
        </p:nvSpPr>
        <p:spPr>
          <a:xfrm>
            <a:off x="7502652" y="354081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3168396" y="2792811"/>
            <a:ext cx="50748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Title and Char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1" y="0"/>
            <a:ext cx="1682120" cy="1577225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570704" y="548640"/>
            <a:ext cx="79989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404622" y="1577340"/>
            <a:ext cx="8339400" cy="3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1pPr>
            <a:lvl2pPr indent="-3048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2pPr>
            <a:lvl3pPr indent="-2984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857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Title and Tabl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7399579" y="0"/>
            <a:ext cx="1744421" cy="1635640"/>
          </a:xfrm>
          <a:custGeom>
            <a:rect b="b" l="l" r="r" t="t"/>
            <a:pathLst>
              <a:path extrusionOk="0" h="2180854" w="232589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0" name="Google Shape;180;p23"/>
          <p:cNvSpPr txBox="1"/>
          <p:nvPr>
            <p:ph type="title"/>
          </p:nvPr>
        </p:nvSpPr>
        <p:spPr>
          <a:xfrm>
            <a:off x="569214" y="548640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566928" y="2119122"/>
            <a:ext cx="80103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1pPr>
            <a:lvl2pPr indent="-3048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2pPr>
            <a:lvl3pPr indent="-2984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857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-5338" y="0"/>
            <a:ext cx="1913239" cy="5143500"/>
          </a:xfrm>
          <a:custGeom>
            <a:rect b="b" l="l" r="r" t="t"/>
            <a:pathLst>
              <a:path extrusionOk="0" h="6858000" w="2550985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-7061" y="0"/>
            <a:ext cx="1911443" cy="1916721"/>
          </a:xfrm>
          <a:custGeom>
            <a:rect b="b" l="l" r="r" t="t"/>
            <a:pathLst>
              <a:path extrusionOk="0" h="2555628" w="2548591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" name="Google Shape;187;p24"/>
          <p:cNvSpPr/>
          <p:nvPr/>
        </p:nvSpPr>
        <p:spPr>
          <a:xfrm flipH="1">
            <a:off x="1901437" y="3231349"/>
            <a:ext cx="1913240" cy="1920332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8" name="Google Shape;188;p24"/>
          <p:cNvSpPr/>
          <p:nvPr/>
        </p:nvSpPr>
        <p:spPr>
          <a:xfrm flipH="1">
            <a:off x="-7964" y="3231349"/>
            <a:ext cx="1913240" cy="1920332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1907901" y="0"/>
            <a:ext cx="1920255" cy="1920255"/>
          </a:xfrm>
          <a:custGeom>
            <a:rect b="b" l="l" r="r" t="t"/>
            <a:pathLst>
              <a:path extrusionOk="0" h="2560340" w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0" name="Google Shape;190;p24"/>
          <p:cNvSpPr txBox="1"/>
          <p:nvPr>
            <p:ph type="title"/>
          </p:nvPr>
        </p:nvSpPr>
        <p:spPr>
          <a:xfrm>
            <a:off x="3330841" y="1008303"/>
            <a:ext cx="52386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 Black"/>
              <a:buNone/>
              <a:defRPr b="1" sz="2500"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4"/>
          <p:cNvSpPr txBox="1"/>
          <p:nvPr>
            <p:ph idx="1" type="body"/>
          </p:nvPr>
        </p:nvSpPr>
        <p:spPr>
          <a:xfrm>
            <a:off x="2708910" y="1010748"/>
            <a:ext cx="576000" cy="14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b="1" sz="75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2" type="body"/>
          </p:nvPr>
        </p:nvSpPr>
        <p:spPr>
          <a:xfrm>
            <a:off x="3330840" y="2982897"/>
            <a:ext cx="37284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24"/>
          <p:cNvSpPr txBox="1"/>
          <p:nvPr>
            <p:ph idx="3" type="body"/>
          </p:nvPr>
        </p:nvSpPr>
        <p:spPr>
          <a:xfrm>
            <a:off x="7125462" y="2407158"/>
            <a:ext cx="5760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b="1" sz="75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4">
  <p:cSld name="Team x4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-18048" y="2543175"/>
            <a:ext cx="9162000" cy="260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569214" y="563549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/>
          <p:nvPr>
            <p:ph idx="2" type="pic"/>
          </p:nvPr>
        </p:nvSpPr>
        <p:spPr>
          <a:xfrm>
            <a:off x="569179" y="1794017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569179" y="3742136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2" name="Google Shape;202;p25"/>
          <p:cNvSpPr txBox="1"/>
          <p:nvPr>
            <p:ph idx="3" type="body"/>
          </p:nvPr>
        </p:nvSpPr>
        <p:spPr>
          <a:xfrm>
            <a:off x="687664" y="4199816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25"/>
          <p:cNvSpPr/>
          <p:nvPr>
            <p:ph idx="4" type="pic"/>
          </p:nvPr>
        </p:nvSpPr>
        <p:spPr>
          <a:xfrm>
            <a:off x="2638021" y="1794464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04" name="Google Shape;204;p25"/>
          <p:cNvSpPr txBox="1"/>
          <p:nvPr>
            <p:ph idx="5" type="body"/>
          </p:nvPr>
        </p:nvSpPr>
        <p:spPr>
          <a:xfrm>
            <a:off x="2637560" y="3742583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5" name="Google Shape;205;p25"/>
          <p:cNvSpPr txBox="1"/>
          <p:nvPr>
            <p:ph idx="6" type="body"/>
          </p:nvPr>
        </p:nvSpPr>
        <p:spPr>
          <a:xfrm>
            <a:off x="2755555" y="4200263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25"/>
          <p:cNvSpPr/>
          <p:nvPr>
            <p:ph idx="7" type="pic"/>
          </p:nvPr>
        </p:nvSpPr>
        <p:spPr>
          <a:xfrm>
            <a:off x="4706863" y="1794911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07" name="Google Shape;207;p25"/>
          <p:cNvSpPr txBox="1"/>
          <p:nvPr>
            <p:ph idx="8" type="body"/>
          </p:nvPr>
        </p:nvSpPr>
        <p:spPr>
          <a:xfrm>
            <a:off x="4705942" y="3743030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9" type="body"/>
          </p:nvPr>
        </p:nvSpPr>
        <p:spPr>
          <a:xfrm>
            <a:off x="4824397" y="4200710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25"/>
          <p:cNvSpPr/>
          <p:nvPr>
            <p:ph idx="13" type="pic"/>
          </p:nvPr>
        </p:nvSpPr>
        <p:spPr>
          <a:xfrm>
            <a:off x="6775704" y="1794911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10" name="Google Shape;210;p25"/>
          <p:cNvSpPr txBox="1"/>
          <p:nvPr>
            <p:ph idx="14" type="body"/>
          </p:nvPr>
        </p:nvSpPr>
        <p:spPr>
          <a:xfrm>
            <a:off x="6774323" y="3743030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25"/>
          <p:cNvSpPr txBox="1"/>
          <p:nvPr>
            <p:ph idx="15" type="body"/>
          </p:nvPr>
        </p:nvSpPr>
        <p:spPr>
          <a:xfrm>
            <a:off x="6893238" y="4200710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eam x8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570703" y="566797"/>
            <a:ext cx="7998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6"/>
          <p:cNvSpPr/>
          <p:nvPr>
            <p:ph idx="2" type="pic"/>
          </p:nvPr>
        </p:nvSpPr>
        <p:spPr>
          <a:xfrm>
            <a:off x="953262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953262" y="2490347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8" name="Google Shape;218;p26"/>
          <p:cNvSpPr txBox="1"/>
          <p:nvPr>
            <p:ph idx="3" type="body"/>
          </p:nvPr>
        </p:nvSpPr>
        <p:spPr>
          <a:xfrm>
            <a:off x="953262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9" name="Google Shape;219;p26"/>
          <p:cNvSpPr/>
          <p:nvPr>
            <p:ph idx="4" type="pic"/>
          </p:nvPr>
        </p:nvSpPr>
        <p:spPr>
          <a:xfrm>
            <a:off x="953262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20" name="Google Shape;220;p26"/>
          <p:cNvSpPr txBox="1"/>
          <p:nvPr>
            <p:ph idx="5" type="body"/>
          </p:nvPr>
        </p:nvSpPr>
        <p:spPr>
          <a:xfrm>
            <a:off x="953262" y="4439543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6"/>
          <p:cNvSpPr txBox="1"/>
          <p:nvPr>
            <p:ph idx="6" type="body"/>
          </p:nvPr>
        </p:nvSpPr>
        <p:spPr>
          <a:xfrm>
            <a:off x="953262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6"/>
          <p:cNvSpPr/>
          <p:nvPr>
            <p:ph idx="7" type="pic"/>
          </p:nvPr>
        </p:nvSpPr>
        <p:spPr>
          <a:xfrm>
            <a:off x="2871216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23" name="Google Shape;223;p26"/>
          <p:cNvSpPr txBox="1"/>
          <p:nvPr>
            <p:ph idx="8" type="body"/>
          </p:nvPr>
        </p:nvSpPr>
        <p:spPr>
          <a:xfrm>
            <a:off x="2871216" y="2490347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idx="9" type="body"/>
          </p:nvPr>
        </p:nvSpPr>
        <p:spPr>
          <a:xfrm>
            <a:off x="2871216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26"/>
          <p:cNvSpPr/>
          <p:nvPr>
            <p:ph idx="13" type="pic"/>
          </p:nvPr>
        </p:nvSpPr>
        <p:spPr>
          <a:xfrm>
            <a:off x="2871216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26" name="Google Shape;226;p26"/>
          <p:cNvSpPr txBox="1"/>
          <p:nvPr>
            <p:ph idx="14" type="body"/>
          </p:nvPr>
        </p:nvSpPr>
        <p:spPr>
          <a:xfrm>
            <a:off x="2871216" y="4439543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7" name="Google Shape;227;p26"/>
          <p:cNvSpPr txBox="1"/>
          <p:nvPr>
            <p:ph idx="15" type="body"/>
          </p:nvPr>
        </p:nvSpPr>
        <p:spPr>
          <a:xfrm>
            <a:off x="2871216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8" name="Google Shape;228;p26"/>
          <p:cNvSpPr/>
          <p:nvPr>
            <p:ph idx="16" type="pic"/>
          </p:nvPr>
        </p:nvSpPr>
        <p:spPr>
          <a:xfrm>
            <a:off x="4789170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29" name="Google Shape;229;p26"/>
          <p:cNvSpPr txBox="1"/>
          <p:nvPr>
            <p:ph idx="17" type="body"/>
          </p:nvPr>
        </p:nvSpPr>
        <p:spPr>
          <a:xfrm>
            <a:off x="4789170" y="2490347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26"/>
          <p:cNvSpPr txBox="1"/>
          <p:nvPr>
            <p:ph idx="18" type="body"/>
          </p:nvPr>
        </p:nvSpPr>
        <p:spPr>
          <a:xfrm>
            <a:off x="4789170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26"/>
          <p:cNvSpPr/>
          <p:nvPr>
            <p:ph idx="19" type="pic"/>
          </p:nvPr>
        </p:nvSpPr>
        <p:spPr>
          <a:xfrm>
            <a:off x="4789170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32" name="Google Shape;232;p26"/>
          <p:cNvSpPr txBox="1"/>
          <p:nvPr>
            <p:ph idx="20" type="body"/>
          </p:nvPr>
        </p:nvSpPr>
        <p:spPr>
          <a:xfrm>
            <a:off x="4789170" y="4439543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6"/>
          <p:cNvSpPr txBox="1"/>
          <p:nvPr>
            <p:ph idx="21" type="body"/>
          </p:nvPr>
        </p:nvSpPr>
        <p:spPr>
          <a:xfrm>
            <a:off x="4789170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4" name="Google Shape;234;p26"/>
          <p:cNvSpPr/>
          <p:nvPr>
            <p:ph idx="22" type="pic"/>
          </p:nvPr>
        </p:nvSpPr>
        <p:spPr>
          <a:xfrm>
            <a:off x="6707124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35" name="Google Shape;235;p26"/>
          <p:cNvSpPr txBox="1"/>
          <p:nvPr>
            <p:ph idx="23" type="body"/>
          </p:nvPr>
        </p:nvSpPr>
        <p:spPr>
          <a:xfrm>
            <a:off x="6707124" y="2490347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26"/>
          <p:cNvSpPr txBox="1"/>
          <p:nvPr>
            <p:ph idx="24" type="body"/>
          </p:nvPr>
        </p:nvSpPr>
        <p:spPr>
          <a:xfrm>
            <a:off x="6707124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7" name="Google Shape;237;p26"/>
          <p:cNvSpPr/>
          <p:nvPr>
            <p:ph idx="25" type="pic"/>
          </p:nvPr>
        </p:nvSpPr>
        <p:spPr>
          <a:xfrm>
            <a:off x="6707124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38" name="Google Shape;238;p26"/>
          <p:cNvSpPr txBox="1"/>
          <p:nvPr>
            <p:ph idx="26" type="body"/>
          </p:nvPr>
        </p:nvSpPr>
        <p:spPr>
          <a:xfrm>
            <a:off x="6707124" y="4439543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27" type="body"/>
          </p:nvPr>
        </p:nvSpPr>
        <p:spPr>
          <a:xfrm>
            <a:off x="6707124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/>
          <p:nvPr/>
        </p:nvSpPr>
        <p:spPr>
          <a:xfrm>
            <a:off x="0" y="0"/>
            <a:ext cx="2128838" cy="2143468"/>
          </a:xfrm>
          <a:custGeom>
            <a:rect b="b" l="l" r="r" t="t"/>
            <a:pathLst>
              <a:path extrusionOk="0" h="2857958" w="283845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1" y="-1"/>
            <a:ext cx="1477970" cy="1492700"/>
          </a:xfrm>
          <a:custGeom>
            <a:rect b="b" l="l" r="r" t="t"/>
            <a:pathLst>
              <a:path extrusionOk="0" h="1990267" w="197062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1" y="1"/>
            <a:ext cx="752587" cy="759761"/>
          </a:xfrm>
          <a:custGeom>
            <a:rect b="b" l="l" r="r" t="t"/>
            <a:pathLst>
              <a:path extrusionOk="0" h="1013015" w="1003449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4" name="Google Shape;244;p27"/>
          <p:cNvSpPr txBox="1"/>
          <p:nvPr>
            <p:ph type="title"/>
          </p:nvPr>
        </p:nvSpPr>
        <p:spPr>
          <a:xfrm>
            <a:off x="569214" y="548640"/>
            <a:ext cx="80034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1093749" y="442600"/>
            <a:ext cx="581266" cy="581266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7" name="Google Shape;247;p27"/>
          <p:cNvSpPr txBox="1"/>
          <p:nvPr>
            <p:ph idx="1" type="body"/>
          </p:nvPr>
        </p:nvSpPr>
        <p:spPr>
          <a:xfrm>
            <a:off x="514004" y="2263140"/>
            <a:ext cx="1495200" cy="4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8" name="Google Shape;248;p27"/>
          <p:cNvSpPr txBox="1"/>
          <p:nvPr>
            <p:ph idx="2" type="body"/>
          </p:nvPr>
        </p:nvSpPr>
        <p:spPr>
          <a:xfrm>
            <a:off x="2175683" y="2263140"/>
            <a:ext cx="1495200" cy="41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9" name="Google Shape;249;p27"/>
          <p:cNvSpPr txBox="1"/>
          <p:nvPr>
            <p:ph idx="3" type="body"/>
          </p:nvPr>
        </p:nvSpPr>
        <p:spPr>
          <a:xfrm>
            <a:off x="3837363" y="2263140"/>
            <a:ext cx="1495200" cy="4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50" name="Google Shape;250;p27"/>
          <p:cNvSpPr txBox="1"/>
          <p:nvPr>
            <p:ph idx="4" type="body"/>
          </p:nvPr>
        </p:nvSpPr>
        <p:spPr>
          <a:xfrm>
            <a:off x="5499043" y="2263140"/>
            <a:ext cx="1495200" cy="41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51" name="Google Shape;251;p27"/>
          <p:cNvSpPr txBox="1"/>
          <p:nvPr>
            <p:ph idx="5" type="body"/>
          </p:nvPr>
        </p:nvSpPr>
        <p:spPr>
          <a:xfrm>
            <a:off x="7160722" y="2263140"/>
            <a:ext cx="1495200" cy="4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cxnSp>
        <p:nvCxnSpPr>
          <p:cNvPr id="252" name="Google Shape;252;p27"/>
          <p:cNvCxnSpPr/>
          <p:nvPr/>
        </p:nvCxnSpPr>
        <p:spPr>
          <a:xfrm>
            <a:off x="554549" y="3140761"/>
            <a:ext cx="8109300" cy="0"/>
          </a:xfrm>
          <a:prstGeom prst="straightConnector1">
            <a:avLst/>
          </a:prstGeom>
          <a:noFill/>
          <a:ln cap="flat" cmpd="sng" w="12700">
            <a:solidFill>
              <a:srgbClr val="F1D0D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27"/>
          <p:cNvSpPr/>
          <p:nvPr/>
        </p:nvSpPr>
        <p:spPr>
          <a:xfrm rot="-5400000">
            <a:off x="1252075" y="3042667"/>
            <a:ext cx="61200" cy="19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4" name="Google Shape;254;p27"/>
          <p:cNvSpPr/>
          <p:nvPr/>
        </p:nvSpPr>
        <p:spPr>
          <a:xfrm rot="-5400000">
            <a:off x="2910857" y="3042667"/>
            <a:ext cx="61200" cy="1959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5" name="Google Shape;255;p27"/>
          <p:cNvSpPr/>
          <p:nvPr/>
        </p:nvSpPr>
        <p:spPr>
          <a:xfrm rot="-5400000">
            <a:off x="4533757" y="3042667"/>
            <a:ext cx="61200" cy="19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6" name="Google Shape;256;p27"/>
          <p:cNvSpPr/>
          <p:nvPr/>
        </p:nvSpPr>
        <p:spPr>
          <a:xfrm rot="-5400000">
            <a:off x="6198468" y="3042667"/>
            <a:ext cx="61200" cy="1959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7" name="Google Shape;257;p27"/>
          <p:cNvSpPr/>
          <p:nvPr/>
        </p:nvSpPr>
        <p:spPr>
          <a:xfrm rot="-5400000">
            <a:off x="7856624" y="3042667"/>
            <a:ext cx="61200" cy="19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8" name="Google Shape;258;p27"/>
          <p:cNvSpPr txBox="1"/>
          <p:nvPr>
            <p:ph idx="6" type="body"/>
          </p:nvPr>
        </p:nvSpPr>
        <p:spPr>
          <a:xfrm>
            <a:off x="514004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27"/>
          <p:cNvSpPr txBox="1"/>
          <p:nvPr>
            <p:ph idx="7" type="body"/>
          </p:nvPr>
        </p:nvSpPr>
        <p:spPr>
          <a:xfrm>
            <a:off x="2175683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27"/>
          <p:cNvSpPr txBox="1"/>
          <p:nvPr>
            <p:ph idx="8" type="body"/>
          </p:nvPr>
        </p:nvSpPr>
        <p:spPr>
          <a:xfrm>
            <a:off x="3837363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9" type="body"/>
          </p:nvPr>
        </p:nvSpPr>
        <p:spPr>
          <a:xfrm>
            <a:off x="5499043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27"/>
          <p:cNvSpPr txBox="1"/>
          <p:nvPr>
            <p:ph idx="13" type="body"/>
          </p:nvPr>
        </p:nvSpPr>
        <p:spPr>
          <a:xfrm>
            <a:off x="7160722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569214" y="556094"/>
            <a:ext cx="8003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28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28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8"/>
          <p:cNvSpPr/>
          <p:nvPr>
            <p:ph idx="2" type="pic"/>
          </p:nvPr>
        </p:nvSpPr>
        <p:spPr>
          <a:xfrm>
            <a:off x="1433322" y="1805740"/>
            <a:ext cx="699600" cy="69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534924" y="2164079"/>
            <a:ext cx="2496300" cy="2673000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9" name="Google Shape;269;p28"/>
          <p:cNvSpPr txBox="1"/>
          <p:nvPr>
            <p:ph idx="3" type="body"/>
          </p:nvPr>
        </p:nvSpPr>
        <p:spPr>
          <a:xfrm>
            <a:off x="744093" y="3074470"/>
            <a:ext cx="2077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•"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0" name="Google Shape;270;p28"/>
          <p:cNvSpPr/>
          <p:nvPr>
            <p:ph idx="4" type="pic"/>
          </p:nvPr>
        </p:nvSpPr>
        <p:spPr>
          <a:xfrm>
            <a:off x="4231386" y="1805740"/>
            <a:ext cx="699600" cy="69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1" name="Google Shape;271;p28"/>
          <p:cNvSpPr txBox="1"/>
          <p:nvPr>
            <p:ph idx="5" type="body"/>
          </p:nvPr>
        </p:nvSpPr>
        <p:spPr>
          <a:xfrm>
            <a:off x="3332988" y="2167889"/>
            <a:ext cx="2496300" cy="26691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2" name="Google Shape;272;p28"/>
          <p:cNvSpPr txBox="1"/>
          <p:nvPr>
            <p:ph idx="6" type="body"/>
          </p:nvPr>
        </p:nvSpPr>
        <p:spPr>
          <a:xfrm>
            <a:off x="3542157" y="3074470"/>
            <a:ext cx="2077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•"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28"/>
          <p:cNvSpPr/>
          <p:nvPr>
            <p:ph idx="7" type="pic"/>
          </p:nvPr>
        </p:nvSpPr>
        <p:spPr>
          <a:xfrm>
            <a:off x="6967728" y="1805740"/>
            <a:ext cx="699600" cy="69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74" name="Google Shape;274;p28"/>
          <p:cNvSpPr txBox="1"/>
          <p:nvPr>
            <p:ph idx="8" type="body"/>
          </p:nvPr>
        </p:nvSpPr>
        <p:spPr>
          <a:xfrm>
            <a:off x="6069330" y="2168842"/>
            <a:ext cx="2496300" cy="2668200"/>
          </a:xfrm>
          <a:prstGeom prst="rect">
            <a:avLst/>
          </a:prstGeom>
          <a:noFill/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5" name="Google Shape;275;p28"/>
          <p:cNvSpPr txBox="1"/>
          <p:nvPr>
            <p:ph idx="9" type="body"/>
          </p:nvPr>
        </p:nvSpPr>
        <p:spPr>
          <a:xfrm>
            <a:off x="6278499" y="3074470"/>
            <a:ext cx="2077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•"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8"/>
          <p:cNvSpPr/>
          <p:nvPr/>
        </p:nvSpPr>
        <p:spPr>
          <a:xfrm>
            <a:off x="1433322" y="1807263"/>
            <a:ext cx="699600" cy="6996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4231767" y="1805740"/>
            <a:ext cx="699600" cy="6996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6967347" y="1809550"/>
            <a:ext cx="699600" cy="6996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6568679" y="-10715"/>
            <a:ext cx="2575322" cy="2589609"/>
          </a:xfrm>
          <a:custGeom>
            <a:rect b="b" l="l" r="r" t="t"/>
            <a:pathLst>
              <a:path extrusionOk="0" h="3452812" w="3433763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6568679" y="2578894"/>
            <a:ext cx="2575322" cy="2575321"/>
          </a:xfrm>
          <a:custGeom>
            <a:rect b="b" l="l" r="r" t="t"/>
            <a:pathLst>
              <a:path extrusionOk="0" h="3433762" w="3433763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2" name="Google Shape;282;p29"/>
          <p:cNvSpPr/>
          <p:nvPr/>
        </p:nvSpPr>
        <p:spPr>
          <a:xfrm flipH="1" rot="10800000">
            <a:off x="7493794" y="935831"/>
            <a:ext cx="1650206" cy="1635919"/>
          </a:xfrm>
          <a:custGeom>
            <a:rect b="b" l="l" r="r" t="t"/>
            <a:pathLst>
              <a:path extrusionOk="0" h="2181225" w="220027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3" name="Google Shape;283;p29"/>
          <p:cNvSpPr/>
          <p:nvPr/>
        </p:nvSpPr>
        <p:spPr>
          <a:xfrm flipH="1" rot="10800000">
            <a:off x="-15065" y="3435038"/>
            <a:ext cx="1708461" cy="1708461"/>
          </a:xfrm>
          <a:custGeom>
            <a:rect b="b" l="l" r="r" t="t"/>
            <a:pathLst>
              <a:path extrusionOk="0" h="2277948" w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84" name="Google Shape;28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93915" y="2580952"/>
            <a:ext cx="1650088" cy="165008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1280969" y="4250712"/>
            <a:ext cx="581266" cy="581266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6" name="Google Shape;286;p29"/>
          <p:cNvSpPr txBox="1"/>
          <p:nvPr>
            <p:ph type="title"/>
          </p:nvPr>
        </p:nvSpPr>
        <p:spPr>
          <a:xfrm>
            <a:off x="1131570" y="623326"/>
            <a:ext cx="48957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7" name="Google Shape;287;p29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29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9"/>
          <p:cNvSpPr txBox="1"/>
          <p:nvPr>
            <p:ph idx="1" type="body"/>
          </p:nvPr>
        </p:nvSpPr>
        <p:spPr>
          <a:xfrm>
            <a:off x="1131570" y="2667323"/>
            <a:ext cx="48957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-4176" y="-2088"/>
            <a:ext cx="2582466" cy="5168503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92" name="Google Shape;29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7483" y="-2088"/>
            <a:ext cx="1300808" cy="38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/>
          <p:nvPr/>
        </p:nvSpPr>
        <p:spPr>
          <a:xfrm>
            <a:off x="1291216" y="-2088"/>
            <a:ext cx="1287086" cy="1290640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-4176" y="2580378"/>
            <a:ext cx="2582466" cy="2586038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843" y="2580378"/>
            <a:ext cx="1289449" cy="129302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>
            <p:ph type="title"/>
          </p:nvPr>
        </p:nvSpPr>
        <p:spPr>
          <a:xfrm>
            <a:off x="2763774" y="566531"/>
            <a:ext cx="5805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0"/>
          <p:cNvSpPr txBox="1"/>
          <p:nvPr>
            <p:ph idx="1" type="body"/>
          </p:nvPr>
        </p:nvSpPr>
        <p:spPr>
          <a:xfrm>
            <a:off x="2763774" y="1728911"/>
            <a:ext cx="28065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0" name="Google Shape;300;p30"/>
          <p:cNvSpPr txBox="1"/>
          <p:nvPr>
            <p:ph idx="2" type="body"/>
          </p:nvPr>
        </p:nvSpPr>
        <p:spPr>
          <a:xfrm>
            <a:off x="5763404" y="1728911"/>
            <a:ext cx="28065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/>
          <p:nvPr/>
        </p:nvSpPr>
        <p:spPr>
          <a:xfrm>
            <a:off x="1" y="0"/>
            <a:ext cx="1682120" cy="1577225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3" name="Google Shape;303;p31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4" name="Google Shape;304;p31"/>
          <p:cNvSpPr txBox="1"/>
          <p:nvPr>
            <p:ph type="title"/>
          </p:nvPr>
        </p:nvSpPr>
        <p:spPr>
          <a:xfrm>
            <a:off x="569214" y="548640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31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6" name="Google Shape;306;p31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577661" y="556094"/>
            <a:ext cx="2949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 Black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32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32"/>
          <p:cNvSpPr txBox="1"/>
          <p:nvPr>
            <p:ph idx="1" type="body"/>
          </p:nvPr>
        </p:nvSpPr>
        <p:spPr>
          <a:xfrm>
            <a:off x="577661" y="1726427"/>
            <a:ext cx="2949000" cy="26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32"/>
          <p:cNvSpPr txBox="1"/>
          <p:nvPr>
            <p:ph idx="2" type="body"/>
          </p:nvPr>
        </p:nvSpPr>
        <p:spPr>
          <a:xfrm>
            <a:off x="3887390" y="556094"/>
            <a:ext cx="4682100" cy="3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6" name="Google Shape;316;p33"/>
          <p:cNvSpPr txBox="1"/>
          <p:nvPr>
            <p:ph type="title"/>
          </p:nvPr>
        </p:nvSpPr>
        <p:spPr>
          <a:xfrm>
            <a:off x="570703" y="566530"/>
            <a:ext cx="30084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 Black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9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33"/>
          <p:cNvSpPr txBox="1"/>
          <p:nvPr>
            <p:ph idx="1" type="body"/>
          </p:nvPr>
        </p:nvSpPr>
        <p:spPr>
          <a:xfrm>
            <a:off x="570703" y="1714501"/>
            <a:ext cx="30084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20" name="Google Shape;320;p33"/>
          <p:cNvSpPr/>
          <p:nvPr>
            <p:ph idx="2" type="pic"/>
          </p:nvPr>
        </p:nvSpPr>
        <p:spPr>
          <a:xfrm>
            <a:off x="3947025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1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569214" y="548640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 i="0" sz="33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569214" y="1577340"/>
            <a:ext cx="8003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5" Type="http://schemas.openxmlformats.org/officeDocument/2006/relationships/hyperlink" Target="mailto:info@maticsanalytics.com" TargetMode="External"/><Relationship Id="rId6" Type="http://schemas.openxmlformats.org/officeDocument/2006/relationships/hyperlink" Target="http://www.maticsanalytics.com/book-online" TargetMode="External"/><Relationship Id="rId7" Type="http://schemas.openxmlformats.org/officeDocument/2006/relationships/hyperlink" Target="http://www.maticsanalytics.com/book-online" TargetMode="External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logo&#10;&#10;Description automatically generated" id="325" name="Google Shape;32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1150" y="3"/>
            <a:ext cx="2200425" cy="14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4"/>
          <p:cNvSpPr txBox="1"/>
          <p:nvPr/>
        </p:nvSpPr>
        <p:spPr>
          <a:xfrm>
            <a:off x="340450" y="475050"/>
            <a:ext cx="6495600" cy="434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Top Apparel Brand Increased Customer Retention By 25% Using </a:t>
            </a: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&amp; </a:t>
            </a: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AI? </a:t>
            </a:r>
            <a:endParaRPr b="1" sz="2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Matics Analytics</a:t>
            </a:r>
            <a:br>
              <a:rPr lang="en"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September 2023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27" name="Google Shape;327;p34"/>
          <p:cNvGrpSpPr/>
          <p:nvPr/>
        </p:nvGrpSpPr>
        <p:grpSpPr>
          <a:xfrm>
            <a:off x="7180224" y="2631813"/>
            <a:ext cx="1722288" cy="2301956"/>
            <a:chOff x="8099515" y="3461555"/>
            <a:chExt cx="1194457" cy="1731966"/>
          </a:xfrm>
        </p:grpSpPr>
        <p:sp>
          <p:nvSpPr>
            <p:cNvPr id="328" name="Google Shape;328;p34"/>
            <p:cNvSpPr/>
            <p:nvPr/>
          </p:nvSpPr>
          <p:spPr>
            <a:xfrm rot="-8337366">
              <a:off x="8066636" y="3835084"/>
              <a:ext cx="1268509" cy="349411"/>
            </a:xfrm>
            <a:prstGeom prst="flowChartTerminator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 rot="-2554473">
              <a:off x="8180414" y="4773079"/>
              <a:ext cx="345873" cy="349485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 rot="-8337336">
              <a:off x="8095190" y="4349402"/>
              <a:ext cx="968662" cy="349411"/>
            </a:xfrm>
            <a:prstGeom prst="flowChartTerminator">
              <a:avLst/>
            </a:prstGeom>
            <a:solidFill>
              <a:srgbClr val="7890CD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/>
          <p:nvPr>
            <p:ph type="title"/>
          </p:nvPr>
        </p:nvSpPr>
        <p:spPr>
          <a:xfrm>
            <a:off x="452750" y="246200"/>
            <a:ext cx="8437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Client Background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35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452750" y="965425"/>
            <a:ext cx="7182900" cy="16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client is a leading apparel brand with a global presence offering a wide range of products for men, women, and children, catering to different segments.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Brand has a strong online and offline presence, with multiple channels of distribution and marketing.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452750" y="2901725"/>
            <a:ext cx="8332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Business Goals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452750" y="3509525"/>
            <a:ext cx="7182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nderstand the root causes of customer attrition and devise effective strategies to prevent churn proactively.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35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36"/>
          <p:cNvGrpSpPr/>
          <p:nvPr/>
        </p:nvGrpSpPr>
        <p:grpSpPr>
          <a:xfrm>
            <a:off x="431925" y="1304879"/>
            <a:ext cx="2628925" cy="2528136"/>
            <a:chOff x="431925" y="1304875"/>
            <a:chExt cx="2628925" cy="3416400"/>
          </a:xfrm>
        </p:grpSpPr>
        <p:sp>
          <p:nvSpPr>
            <p:cNvPr id="346" name="Google Shape;346;p3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36"/>
          <p:cNvSpPr txBox="1"/>
          <p:nvPr>
            <p:ph idx="4294967295" type="body"/>
          </p:nvPr>
        </p:nvSpPr>
        <p:spPr>
          <a:xfrm>
            <a:off x="694575" y="1304875"/>
            <a:ext cx="2103600" cy="3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Attrition</a:t>
            </a:r>
            <a:endParaRPr sz="1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9" name="Google Shape;349;p36"/>
          <p:cNvSpPr txBox="1"/>
          <p:nvPr>
            <p:ph idx="4294967295" type="body"/>
          </p:nvPr>
        </p:nvSpPr>
        <p:spPr>
          <a:xfrm>
            <a:off x="428375" y="1963200"/>
            <a:ext cx="2632500" cy="139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client was facing major challenge in retaining customers amidst fierce competition and changing consumer behavior. 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36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Decreasing Loyalty</a:t>
            </a:r>
            <a:endParaRPr sz="16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1" name="Google Shape;351;p36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 Loss</a:t>
            </a:r>
            <a:endParaRPr sz="16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2" name="Google Shape;352;p36"/>
          <p:cNvSpPr txBox="1"/>
          <p:nvPr>
            <p:ph type="title"/>
          </p:nvPr>
        </p:nvSpPr>
        <p:spPr>
          <a:xfrm>
            <a:off x="431925" y="3611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Business Problems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3" name="Google Shape;353;p36"/>
          <p:cNvGrpSpPr/>
          <p:nvPr/>
        </p:nvGrpSpPr>
        <p:grpSpPr>
          <a:xfrm>
            <a:off x="3324100" y="1304845"/>
            <a:ext cx="2628925" cy="2528136"/>
            <a:chOff x="431925" y="1304875"/>
            <a:chExt cx="2628925" cy="3416400"/>
          </a:xfrm>
        </p:grpSpPr>
        <p:sp>
          <p:nvSpPr>
            <p:cNvPr id="354" name="Google Shape;354;p3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36"/>
          <p:cNvSpPr txBox="1"/>
          <p:nvPr>
            <p:ph idx="4294967295" type="body"/>
          </p:nvPr>
        </p:nvSpPr>
        <p:spPr>
          <a:xfrm>
            <a:off x="3684300" y="1304875"/>
            <a:ext cx="2103600" cy="3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Decreasing Loyalty</a:t>
            </a:r>
            <a:endParaRPr sz="1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7" name="Google Shape;357;p36"/>
          <p:cNvSpPr txBox="1"/>
          <p:nvPr>
            <p:ph idx="4294967295" type="body"/>
          </p:nvPr>
        </p:nvSpPr>
        <p:spPr>
          <a:xfrm>
            <a:off x="3322300" y="1974075"/>
            <a:ext cx="2632500" cy="139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client observed that customer loyalty was diminishing, posing a threat to their long-term growth. 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3324098" y="1304798"/>
            <a:ext cx="2628900" cy="3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6"/>
          <p:cNvSpPr txBox="1"/>
          <p:nvPr>
            <p:ph idx="4294967295" type="body"/>
          </p:nvPr>
        </p:nvSpPr>
        <p:spPr>
          <a:xfrm>
            <a:off x="3684300" y="1304875"/>
            <a:ext cx="2103600" cy="3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Decreasing Loyalty</a:t>
            </a:r>
            <a:endParaRPr sz="1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60" name="Google Shape;360;p36"/>
          <p:cNvGrpSpPr/>
          <p:nvPr/>
        </p:nvGrpSpPr>
        <p:grpSpPr>
          <a:xfrm>
            <a:off x="6216275" y="1307682"/>
            <a:ext cx="2628925" cy="2528136"/>
            <a:chOff x="431925" y="1304875"/>
            <a:chExt cx="2628925" cy="3416400"/>
          </a:xfrm>
        </p:grpSpPr>
        <p:sp>
          <p:nvSpPr>
            <p:cNvPr id="361" name="Google Shape;361;p3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36"/>
          <p:cNvSpPr txBox="1"/>
          <p:nvPr>
            <p:ph idx="4294967295" type="body"/>
          </p:nvPr>
        </p:nvSpPr>
        <p:spPr>
          <a:xfrm>
            <a:off x="6787475" y="1304875"/>
            <a:ext cx="1490100" cy="3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 Loss</a:t>
            </a:r>
            <a:endParaRPr sz="1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endParaRPr sz="1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64" name="Google Shape;364;p36"/>
          <p:cNvSpPr txBox="1"/>
          <p:nvPr>
            <p:ph idx="4294967295" type="body"/>
          </p:nvPr>
        </p:nvSpPr>
        <p:spPr>
          <a:xfrm>
            <a:off x="6216275" y="1963200"/>
            <a:ext cx="2632500" cy="11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Alarming increase in customer churn rates, resulting in revenue losses. it.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428350" y="4348825"/>
            <a:ext cx="1395350" cy="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37"/>
          <p:cNvGrpSpPr/>
          <p:nvPr/>
        </p:nvGrpSpPr>
        <p:grpSpPr>
          <a:xfrm>
            <a:off x="7630373" y="3557081"/>
            <a:ext cx="1078714" cy="1439091"/>
            <a:chOff x="8099515" y="3461555"/>
            <a:chExt cx="1194457" cy="1731966"/>
          </a:xfrm>
        </p:grpSpPr>
        <p:sp>
          <p:nvSpPr>
            <p:cNvPr id="371" name="Google Shape;371;p37"/>
            <p:cNvSpPr/>
            <p:nvPr/>
          </p:nvSpPr>
          <p:spPr>
            <a:xfrm rot="-8337366">
              <a:off x="8066636" y="3835084"/>
              <a:ext cx="1268509" cy="349411"/>
            </a:xfrm>
            <a:prstGeom prst="flowChartTerminator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2" name="Google Shape;372;p37"/>
            <p:cNvSpPr/>
            <p:nvPr/>
          </p:nvSpPr>
          <p:spPr>
            <a:xfrm rot="-2554473">
              <a:off x="8180414" y="4773079"/>
              <a:ext cx="345873" cy="349485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 rot="-8337336">
              <a:off x="8095190" y="4349402"/>
              <a:ext cx="968662" cy="349411"/>
            </a:xfrm>
            <a:prstGeom prst="flowChartTerminator">
              <a:avLst/>
            </a:prstGeom>
            <a:solidFill>
              <a:srgbClr val="7890CD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4" name="Google Shape;374;p37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7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</a:t>
            </a:r>
            <a:r>
              <a:rPr lang="en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Overload</a:t>
            </a:r>
            <a:endParaRPr sz="1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76" name="Google Shape;376;p37"/>
          <p:cNvSpPr txBox="1"/>
          <p:nvPr>
            <p:ph idx="4294967295" type="body"/>
          </p:nvPr>
        </p:nvSpPr>
        <p:spPr>
          <a:xfrm>
            <a:off x="431150" y="2218550"/>
            <a:ext cx="26136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Managing and analyzing </a:t>
            </a: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vast amounts of unorganized data such as sales, customers and items data was daunting.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 txBox="1"/>
          <p:nvPr>
            <p:ph idx="4294967295" type="body"/>
          </p:nvPr>
        </p:nvSpPr>
        <p:spPr>
          <a:xfrm>
            <a:off x="3343288" y="1451575"/>
            <a:ext cx="24693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Engagement</a:t>
            </a:r>
            <a:endParaRPr sz="1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7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Outdated Strategies</a:t>
            </a:r>
            <a:endParaRPr sz="1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1" name="Google Shape;381;p37"/>
          <p:cNvSpPr txBox="1"/>
          <p:nvPr>
            <p:ph idx="4294967295" type="body"/>
          </p:nvPr>
        </p:nvSpPr>
        <p:spPr>
          <a:xfrm>
            <a:off x="6146975" y="2218550"/>
            <a:ext cx="2685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client relied on traditional and generic customer retention strategies, that did not account needs, and behaviors of the customers.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37"/>
          <p:cNvSpPr txBox="1"/>
          <p:nvPr>
            <p:ph idx="4294967295" type="body"/>
          </p:nvPr>
        </p:nvSpPr>
        <p:spPr>
          <a:xfrm>
            <a:off x="3189225" y="2218550"/>
            <a:ext cx="24717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Effectively engaging with the customers and provide them with relevant offers to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rPr>
              <a:t>prevent attrition was crucial.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83" name="Google Shape;383;p37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311700" y="4326675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7"/>
          <p:cNvSpPr txBox="1"/>
          <p:nvPr>
            <p:ph type="title"/>
          </p:nvPr>
        </p:nvSpPr>
        <p:spPr>
          <a:xfrm>
            <a:off x="431925" y="3611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Key Challenges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90" name="Google Shape;390;p38"/>
          <p:cNvGrpSpPr/>
          <p:nvPr/>
        </p:nvGrpSpPr>
        <p:grpSpPr>
          <a:xfrm>
            <a:off x="3342025" y="1163925"/>
            <a:ext cx="2615561" cy="3711155"/>
            <a:chOff x="1178650" y="283725"/>
            <a:chExt cx="2030400" cy="4076400"/>
          </a:xfrm>
        </p:grpSpPr>
        <p:sp>
          <p:nvSpPr>
            <p:cNvPr id="391" name="Google Shape;391;p3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dk1"/>
            </a:solidFill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1256182" y="1913096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Lorem ipsum porta dolor sit amet nec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1256110" y="1158635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45</a:t>
              </a:r>
              <a:r>
                <a:rPr lang="en" sz="4000">
                  <a:solidFill>
                    <a:schemeClr val="dk1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%</a:t>
              </a:r>
              <a:endParaRPr sz="4000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394" name="Google Shape;394;p38"/>
          <p:cNvGrpSpPr/>
          <p:nvPr/>
        </p:nvGrpSpPr>
        <p:grpSpPr>
          <a:xfrm>
            <a:off x="6294600" y="1163925"/>
            <a:ext cx="2615561" cy="3711155"/>
            <a:chOff x="1178650" y="283725"/>
            <a:chExt cx="2030400" cy="4076400"/>
          </a:xfrm>
        </p:grpSpPr>
        <p:sp>
          <p:nvSpPr>
            <p:cNvPr id="395" name="Google Shape;395;p3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dk1"/>
            </a:solidFill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1256182" y="1913096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Lorem ipsum porta dolor sit amet nec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1256110" y="1158635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45</a:t>
              </a:r>
              <a:r>
                <a:rPr lang="en" sz="4000">
                  <a:solidFill>
                    <a:schemeClr val="dk1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%</a:t>
              </a:r>
              <a:endParaRPr sz="4000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pic>
        <p:nvPicPr>
          <p:cNvPr id="398" name="Google Shape;398;p38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514800" y="95800"/>
            <a:ext cx="1395350" cy="66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" name="Google Shape;399;p38"/>
          <p:cNvGrpSpPr/>
          <p:nvPr/>
        </p:nvGrpSpPr>
        <p:grpSpPr>
          <a:xfrm>
            <a:off x="311698" y="1163925"/>
            <a:ext cx="2693314" cy="3711155"/>
            <a:chOff x="1118292" y="283725"/>
            <a:chExt cx="2090758" cy="4076400"/>
          </a:xfrm>
        </p:grpSpPr>
        <p:sp>
          <p:nvSpPr>
            <p:cNvPr id="400" name="Google Shape;400;p3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dk1"/>
            </a:solidFill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1" name="Google Shape;401;p38"/>
            <p:cNvSpPr/>
            <p:nvPr/>
          </p:nvSpPr>
          <p:spPr>
            <a:xfrm>
              <a:off x="1118292" y="614692"/>
              <a:ext cx="2090700" cy="3293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1244468" y="945027"/>
              <a:ext cx="1838400" cy="9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  <a:t>Data-Driven Insights</a:t>
              </a:r>
              <a:endParaRPr sz="1800">
                <a:solidFill>
                  <a:schemeClr val="dk1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1256180" y="1913091"/>
              <a:ext cx="1915800" cy="17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highlight>
                    <a:srgbClr val="FFFFFF"/>
                  </a:highlight>
                  <a:latin typeface="Poppins Medium"/>
                  <a:ea typeface="Poppins Medium"/>
                  <a:cs typeface="Poppins Medium"/>
                  <a:sym typeface="Poppins Medium"/>
                </a:rPr>
                <a:t>We harnessed advanced analytics to extract insights from the data to </a:t>
              </a:r>
              <a:r>
                <a:rPr lang="en" sz="130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identify the key patterns, trends, and segments in the customer data.</a:t>
              </a:r>
              <a:endParaRPr sz="13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04" name="Google Shape;404;p38"/>
          <p:cNvGrpSpPr/>
          <p:nvPr/>
        </p:nvGrpSpPr>
        <p:grpSpPr>
          <a:xfrm>
            <a:off x="3303185" y="1451575"/>
            <a:ext cx="2693240" cy="2998584"/>
            <a:chOff x="1118292" y="614692"/>
            <a:chExt cx="2090700" cy="3293700"/>
          </a:xfrm>
        </p:grpSpPr>
        <p:sp>
          <p:nvSpPr>
            <p:cNvPr id="405" name="Google Shape;405;p38"/>
            <p:cNvSpPr/>
            <p:nvPr/>
          </p:nvSpPr>
          <p:spPr>
            <a:xfrm>
              <a:off x="1118292" y="614692"/>
              <a:ext cx="2090700" cy="3293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1244468" y="945027"/>
              <a:ext cx="1838400" cy="9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  <a:t>Machine </a:t>
              </a:r>
              <a:br>
                <a:rPr lang="en" sz="1800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</a:br>
              <a:r>
                <a:rPr lang="en" sz="1800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  <a:t>Learning</a:t>
              </a:r>
              <a:endParaRPr sz="1800">
                <a:solidFill>
                  <a:schemeClr val="dk1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256180" y="1913091"/>
              <a:ext cx="1915800" cy="17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Built ML models to proactively predict which customers are most likely to leave the brand in the next 12 months.</a:t>
              </a:r>
              <a:endParaRPr sz="13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08" name="Google Shape;408;p38"/>
          <p:cNvGrpSpPr/>
          <p:nvPr/>
        </p:nvGrpSpPr>
        <p:grpSpPr>
          <a:xfrm>
            <a:off x="6294598" y="1451563"/>
            <a:ext cx="2693240" cy="2998584"/>
            <a:chOff x="1118292" y="614692"/>
            <a:chExt cx="2090700" cy="3293700"/>
          </a:xfrm>
        </p:grpSpPr>
        <p:sp>
          <p:nvSpPr>
            <p:cNvPr id="409" name="Google Shape;409;p38"/>
            <p:cNvSpPr/>
            <p:nvPr/>
          </p:nvSpPr>
          <p:spPr>
            <a:xfrm>
              <a:off x="1118292" y="614692"/>
              <a:ext cx="2090700" cy="3293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0" name="Google Shape;410;p38"/>
            <p:cNvSpPr/>
            <p:nvPr/>
          </p:nvSpPr>
          <p:spPr>
            <a:xfrm>
              <a:off x="1244468" y="945027"/>
              <a:ext cx="1838400" cy="9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Retention </a:t>
              </a:r>
              <a:br>
                <a:rPr lang="en" sz="18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</a:br>
              <a:r>
                <a:rPr lang="en" sz="18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Strategy</a:t>
              </a:r>
              <a:endParaRPr sz="1800">
                <a:solidFill>
                  <a:schemeClr val="dk1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1244459" y="1845126"/>
              <a:ext cx="1915800" cy="17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Recommended targeted marketing initiatives to focus on the customers in the top deciles, who had the highest probability of churning.</a:t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12" name="Google Shape;412;p38"/>
          <p:cNvSpPr txBox="1"/>
          <p:nvPr>
            <p:ph type="title"/>
          </p:nvPr>
        </p:nvSpPr>
        <p:spPr>
          <a:xfrm>
            <a:off x="389500" y="2847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Our Solution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/>
          <p:nvPr/>
        </p:nvSpPr>
        <p:spPr>
          <a:xfrm rot="10592382">
            <a:off x="5513499" y="1379656"/>
            <a:ext cx="2689002" cy="2689002"/>
          </a:xfrm>
          <a:prstGeom prst="blockArc">
            <a:avLst>
              <a:gd fmla="val 2627839" name="adj1"/>
              <a:gd fmla="val 5880699" name="adj2"/>
              <a:gd fmla="val 7985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418" name="Google Shape;418;p39"/>
          <p:cNvSpPr txBox="1"/>
          <p:nvPr>
            <p:ph type="title"/>
          </p:nvPr>
        </p:nvSpPr>
        <p:spPr>
          <a:xfrm>
            <a:off x="466200" y="285450"/>
            <a:ext cx="3644100" cy="13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Poppins"/>
                <a:ea typeface="Poppins"/>
                <a:cs typeface="Poppins"/>
                <a:sym typeface="Poppins"/>
              </a:rPr>
              <a:t>Value</a:t>
            </a:r>
            <a:r>
              <a:rPr b="1" lang="en" sz="3400">
                <a:latin typeface="Poppins"/>
                <a:ea typeface="Poppins"/>
                <a:cs typeface="Poppins"/>
                <a:sym typeface="Poppins"/>
              </a:rPr>
              <a:t> Delivered</a:t>
            </a:r>
            <a:endParaRPr b="1" sz="3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419" name="Google Shape;419;p39"/>
          <p:cNvSpPr txBox="1"/>
          <p:nvPr>
            <p:ph idx="1" type="subTitle"/>
          </p:nvPr>
        </p:nvSpPr>
        <p:spPr>
          <a:xfrm>
            <a:off x="233100" y="1841000"/>
            <a:ext cx="41103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Char char="●"/>
            </a:pP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Achieved a significant 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25% boost in customer retention</a:t>
            </a: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leading to a more stable and loyal customer base.</a:t>
            </a:r>
            <a:b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400">
              <a:solidFill>
                <a:srgbClr val="DF8F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Char char="●"/>
            </a:pP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Successfully 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reduced customer churn</a:t>
            </a: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contributing positively to company’s revenue stream.</a:t>
            </a:r>
            <a:b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Char char="●"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loyalty</a:t>
            </a: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was enhanced by providing them with targeted and relevant offers.</a:t>
            </a:r>
            <a:endParaRPr sz="1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20" name="Google Shape;420;p39"/>
          <p:cNvSpPr txBox="1"/>
          <p:nvPr>
            <p:ph idx="2" type="body"/>
          </p:nvPr>
        </p:nvSpPr>
        <p:spPr>
          <a:xfrm>
            <a:off x="6038550" y="2025775"/>
            <a:ext cx="1638900" cy="1396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oppins SemiBold"/>
                <a:ea typeface="Poppins SemiBold"/>
                <a:cs typeface="Poppins SemiBold"/>
                <a:sym typeface="Poppins SemiBold"/>
              </a:rPr>
              <a:t>25</a:t>
            </a:r>
            <a:r>
              <a:rPr lang="en" sz="3600">
                <a:latin typeface="Poppins SemiBold"/>
                <a:ea typeface="Poppins SemiBold"/>
                <a:cs typeface="Poppins SemiBold"/>
                <a:sym typeface="Poppins SemiBold"/>
              </a:rPr>
              <a:t>%</a:t>
            </a:r>
            <a:endParaRPr sz="36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421" name="Google Shape;421;p39"/>
          <p:cNvSpPr/>
          <p:nvPr/>
        </p:nvSpPr>
        <p:spPr>
          <a:xfrm>
            <a:off x="5513395" y="1379567"/>
            <a:ext cx="2688900" cy="2688900"/>
          </a:xfrm>
          <a:prstGeom prst="blockArc">
            <a:avLst>
              <a:gd fmla="val 16211102" name="adj1"/>
              <a:gd fmla="val 13367420" name="adj2"/>
              <a:gd fmla="val 7983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9"/>
          <p:cNvSpPr txBox="1"/>
          <p:nvPr>
            <p:ph idx="2" type="body"/>
          </p:nvPr>
        </p:nvSpPr>
        <p:spPr>
          <a:xfrm>
            <a:off x="5877325" y="2715963"/>
            <a:ext cx="1961100" cy="7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latin typeface="Poppins SemiBold"/>
                <a:ea typeface="Poppins SemiBold"/>
                <a:cs typeface="Poppins SemiBold"/>
                <a:sym typeface="Poppins SemiBold"/>
              </a:rPr>
              <a:t>Increase in Customer Retention</a:t>
            </a:r>
            <a:endParaRPr sz="12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40"/>
          <p:cNvGrpSpPr/>
          <p:nvPr/>
        </p:nvGrpSpPr>
        <p:grpSpPr>
          <a:xfrm>
            <a:off x="7421712" y="-12"/>
            <a:ext cx="1722288" cy="2301956"/>
            <a:chOff x="8099515" y="3461555"/>
            <a:chExt cx="1194457" cy="1731966"/>
          </a:xfrm>
        </p:grpSpPr>
        <p:sp>
          <p:nvSpPr>
            <p:cNvPr id="428" name="Google Shape;428;p40"/>
            <p:cNvSpPr/>
            <p:nvPr/>
          </p:nvSpPr>
          <p:spPr>
            <a:xfrm rot="-8337366">
              <a:off x="8066636" y="3835084"/>
              <a:ext cx="1268509" cy="349411"/>
            </a:xfrm>
            <a:prstGeom prst="flowChartTerminator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9" name="Google Shape;429;p40"/>
            <p:cNvSpPr/>
            <p:nvPr/>
          </p:nvSpPr>
          <p:spPr>
            <a:xfrm rot="-2554473">
              <a:off x="8180414" y="4773079"/>
              <a:ext cx="345873" cy="349485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0" name="Google Shape;430;p40"/>
            <p:cNvSpPr/>
            <p:nvPr/>
          </p:nvSpPr>
          <p:spPr>
            <a:xfrm rot="-8337336">
              <a:off x="8095190" y="4349402"/>
              <a:ext cx="968662" cy="349411"/>
            </a:xfrm>
            <a:prstGeom prst="flowChartTerminator">
              <a:avLst/>
            </a:prstGeom>
            <a:solidFill>
              <a:srgbClr val="7890CD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1" name="Google Shape;431;p40"/>
          <p:cNvSpPr/>
          <p:nvPr/>
        </p:nvSpPr>
        <p:spPr>
          <a:xfrm>
            <a:off x="24000" y="1168474"/>
            <a:ext cx="9096000" cy="309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00" y="3968024"/>
            <a:ext cx="1680850" cy="1680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p40"/>
          <p:cNvGrpSpPr/>
          <p:nvPr/>
        </p:nvGrpSpPr>
        <p:grpSpPr>
          <a:xfrm>
            <a:off x="524204" y="1550716"/>
            <a:ext cx="8092085" cy="1878261"/>
            <a:chOff x="273007" y="1108859"/>
            <a:chExt cx="8083194" cy="1872083"/>
          </a:xfrm>
        </p:grpSpPr>
        <p:grpSp>
          <p:nvGrpSpPr>
            <p:cNvPr id="434" name="Google Shape;434;p40"/>
            <p:cNvGrpSpPr/>
            <p:nvPr/>
          </p:nvGrpSpPr>
          <p:grpSpPr>
            <a:xfrm>
              <a:off x="273007" y="1108859"/>
              <a:ext cx="1879556" cy="1872021"/>
              <a:chOff x="436775" y="961000"/>
              <a:chExt cx="2282400" cy="2358600"/>
            </a:xfrm>
          </p:grpSpPr>
          <p:sp>
            <p:nvSpPr>
              <p:cNvPr id="435" name="Google Shape;435;p40"/>
              <p:cNvSpPr/>
              <p:nvPr/>
            </p:nvSpPr>
            <p:spPr>
              <a:xfrm rot="5400000">
                <a:off x="398675" y="999100"/>
                <a:ext cx="2358600" cy="2282400"/>
              </a:xfrm>
              <a:prstGeom prst="ellipse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36" name="Google Shape;436;p40"/>
              <p:cNvSpPr txBox="1"/>
              <p:nvPr/>
            </p:nvSpPr>
            <p:spPr>
              <a:xfrm>
                <a:off x="464078" y="2380170"/>
                <a:ext cx="2227800" cy="63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8575" lIns="68575" spcFirstLastPara="1" rIns="68575" wrap="square" tIns="685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Cloud Computing Platform</a:t>
                </a:r>
                <a:endParaRPr sz="12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437" name="Google Shape;437;p40"/>
            <p:cNvGrpSpPr/>
            <p:nvPr/>
          </p:nvGrpSpPr>
          <p:grpSpPr>
            <a:xfrm>
              <a:off x="409790" y="1108859"/>
              <a:ext cx="7946411" cy="1872083"/>
              <a:chOff x="409790" y="1108859"/>
              <a:chExt cx="7946411" cy="1872083"/>
            </a:xfrm>
          </p:grpSpPr>
          <p:grpSp>
            <p:nvGrpSpPr>
              <p:cNvPr id="438" name="Google Shape;438;p40"/>
              <p:cNvGrpSpPr/>
              <p:nvPr/>
            </p:nvGrpSpPr>
            <p:grpSpPr>
              <a:xfrm>
                <a:off x="2340895" y="1108859"/>
                <a:ext cx="1879556" cy="1872021"/>
                <a:chOff x="2340895" y="1108859"/>
                <a:chExt cx="1879556" cy="1872021"/>
              </a:xfrm>
            </p:grpSpPr>
            <p:grpSp>
              <p:nvGrpSpPr>
                <p:cNvPr id="439" name="Google Shape;439;p40"/>
                <p:cNvGrpSpPr/>
                <p:nvPr/>
              </p:nvGrpSpPr>
              <p:grpSpPr>
                <a:xfrm>
                  <a:off x="2340895" y="1108859"/>
                  <a:ext cx="1879556" cy="1872021"/>
                  <a:chOff x="436775" y="961000"/>
                  <a:chExt cx="2282400" cy="2358600"/>
                </a:xfrm>
              </p:grpSpPr>
              <p:sp>
                <p:nvSpPr>
                  <p:cNvPr id="440" name="Google Shape;440;p40"/>
                  <p:cNvSpPr/>
                  <p:nvPr/>
                </p:nvSpPr>
                <p:spPr>
                  <a:xfrm rot="5400000">
                    <a:off x="398675" y="999100"/>
                    <a:ext cx="2358600" cy="22824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381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10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441" name="Google Shape;441;p40"/>
                  <p:cNvSpPr txBox="1"/>
                  <p:nvPr/>
                </p:nvSpPr>
                <p:spPr>
                  <a:xfrm>
                    <a:off x="464078" y="2380170"/>
                    <a:ext cx="2227800" cy="63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68575" lIns="68575" spcFirstLastPara="1" rIns="68575" wrap="square" tIns="68575">
                    <a:sp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00">
                        <a:solidFill>
                          <a:schemeClr val="dk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Data Analytics &amp; Development</a:t>
                    </a:r>
                    <a:endParaRPr sz="1200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  <p:pic>
              <p:nvPicPr>
                <p:cNvPr id="442" name="Google Shape;442;p4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6358" t="-6507"/>
                <a:stretch/>
              </p:blipFill>
              <p:spPr>
                <a:xfrm>
                  <a:off x="2511287" y="1341499"/>
                  <a:ext cx="1494786" cy="8336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443" name="Google Shape;443;p40"/>
              <p:cNvPicPr preferRelativeResize="0"/>
              <p:nvPr/>
            </p:nvPicPr>
            <p:blipFill rotWithShape="1">
              <a:blip r:embed="rId5">
                <a:alphaModFix/>
              </a:blip>
              <a:srcRect b="31075" l="0" r="0" t="31078"/>
              <a:stretch/>
            </p:blipFill>
            <p:spPr>
              <a:xfrm>
                <a:off x="409790" y="1568913"/>
                <a:ext cx="1605986" cy="607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44" name="Google Shape;444;p40"/>
              <p:cNvGrpSpPr/>
              <p:nvPr/>
            </p:nvGrpSpPr>
            <p:grpSpPr>
              <a:xfrm>
                <a:off x="4408770" y="1108859"/>
                <a:ext cx="1879556" cy="1872021"/>
                <a:chOff x="436775" y="961000"/>
                <a:chExt cx="2282400" cy="2358600"/>
              </a:xfrm>
            </p:grpSpPr>
            <p:sp>
              <p:nvSpPr>
                <p:cNvPr id="445" name="Google Shape;445;p40"/>
                <p:cNvSpPr/>
                <p:nvPr/>
              </p:nvSpPr>
              <p:spPr>
                <a:xfrm rot="5400000">
                  <a:off x="398675" y="999100"/>
                  <a:ext cx="2358600" cy="228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46" name="Google Shape;446;p40"/>
                <p:cNvSpPr txBox="1"/>
                <p:nvPr/>
              </p:nvSpPr>
              <p:spPr>
                <a:xfrm>
                  <a:off x="464078" y="2380170"/>
                  <a:ext cx="2227800" cy="6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8575" lIns="68575" spcFirstLastPara="1" rIns="68575" wrap="square" tIns="6857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Data Storage </a:t>
                  </a:r>
                  <a:endParaRPr sz="120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Layer</a:t>
                  </a:r>
                  <a:endParaRPr sz="120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pic>
            <p:nvPicPr>
              <p:cNvPr id="447" name="Google Shape;447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839263" y="1341488"/>
                <a:ext cx="1018574" cy="833651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grpSp>
            <p:nvGrpSpPr>
              <p:cNvPr id="448" name="Google Shape;448;p40"/>
              <p:cNvGrpSpPr/>
              <p:nvPr/>
            </p:nvGrpSpPr>
            <p:grpSpPr>
              <a:xfrm>
                <a:off x="6476645" y="1108921"/>
                <a:ext cx="1879556" cy="1872021"/>
                <a:chOff x="513217" y="960937"/>
                <a:chExt cx="2282400" cy="2358600"/>
              </a:xfrm>
            </p:grpSpPr>
            <p:sp>
              <p:nvSpPr>
                <p:cNvPr id="449" name="Google Shape;449;p40"/>
                <p:cNvSpPr/>
                <p:nvPr/>
              </p:nvSpPr>
              <p:spPr>
                <a:xfrm rot="5400000">
                  <a:off x="475117" y="999037"/>
                  <a:ext cx="2358600" cy="228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50" name="Google Shape;450;p40"/>
                <p:cNvSpPr txBox="1"/>
                <p:nvPr/>
              </p:nvSpPr>
              <p:spPr>
                <a:xfrm>
                  <a:off x="513228" y="2380028"/>
                  <a:ext cx="2227800" cy="6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8575" lIns="68575" spcFirstLastPara="1" rIns="68575" wrap="square" tIns="6857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ML Lifecycle Management</a:t>
                  </a:r>
                  <a:endParaRPr sz="120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</p:grpSp>
      <p:pic>
        <p:nvPicPr>
          <p:cNvPr id="451" name="Google Shape;451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15425" y="2074000"/>
            <a:ext cx="1357476" cy="49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40"/>
          <p:cNvGrpSpPr/>
          <p:nvPr/>
        </p:nvGrpSpPr>
        <p:grpSpPr>
          <a:xfrm>
            <a:off x="2349203" y="2419833"/>
            <a:ext cx="260366" cy="260366"/>
            <a:chOff x="3157188" y="909150"/>
            <a:chExt cx="470400" cy="470400"/>
          </a:xfrm>
        </p:grpSpPr>
        <p:sp>
          <p:nvSpPr>
            <p:cNvPr id="453" name="Google Shape;453;p40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5" name="Google Shape;455;p40"/>
          <p:cNvGrpSpPr/>
          <p:nvPr/>
        </p:nvGrpSpPr>
        <p:grpSpPr>
          <a:xfrm>
            <a:off x="4441815" y="2419833"/>
            <a:ext cx="260366" cy="260366"/>
            <a:chOff x="3157188" y="909150"/>
            <a:chExt cx="470400" cy="470400"/>
          </a:xfrm>
        </p:grpSpPr>
        <p:sp>
          <p:nvSpPr>
            <p:cNvPr id="456" name="Google Shape;456;p40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8" name="Google Shape;458;p40"/>
          <p:cNvGrpSpPr/>
          <p:nvPr/>
        </p:nvGrpSpPr>
        <p:grpSpPr>
          <a:xfrm>
            <a:off x="6534428" y="2419833"/>
            <a:ext cx="260366" cy="260366"/>
            <a:chOff x="3157188" y="909150"/>
            <a:chExt cx="470400" cy="470400"/>
          </a:xfrm>
        </p:grpSpPr>
        <p:sp>
          <p:nvSpPr>
            <p:cNvPr id="459" name="Google Shape;459;p40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61" name="Google Shape;461;p40"/>
          <p:cNvSpPr txBox="1"/>
          <p:nvPr>
            <p:ph idx="4294967295" type="title"/>
          </p:nvPr>
        </p:nvSpPr>
        <p:spPr>
          <a:xfrm>
            <a:off x="431925" y="306575"/>
            <a:ext cx="6415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Poppins"/>
                <a:ea typeface="Poppins"/>
                <a:cs typeface="Poppins"/>
                <a:sym typeface="Poppins"/>
              </a:rPr>
              <a:t>Tech Stack</a:t>
            </a:r>
            <a:endParaRPr b="1" sz="3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1"/>
          <p:cNvSpPr/>
          <p:nvPr/>
        </p:nvSpPr>
        <p:spPr>
          <a:xfrm>
            <a:off x="175059" y="429000"/>
            <a:ext cx="2075400" cy="4285500"/>
          </a:xfrm>
          <a:prstGeom prst="flowChartAlternateProcess">
            <a:avLst/>
          </a:prstGeom>
          <a:gradFill>
            <a:gsLst>
              <a:gs pos="0">
                <a:srgbClr val="2B3DC5"/>
              </a:gs>
              <a:gs pos="85000">
                <a:srgbClr val="222E8E"/>
              </a:gs>
              <a:gs pos="100000">
                <a:srgbClr val="181F56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67" name="Google Shape;467;p41"/>
          <p:cNvSpPr txBox="1"/>
          <p:nvPr>
            <p:ph type="title"/>
          </p:nvPr>
        </p:nvSpPr>
        <p:spPr>
          <a:xfrm>
            <a:off x="2422333" y="429066"/>
            <a:ext cx="43986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</a:pP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ABOUT US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8" name="Google Shape;4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6069" y="-320344"/>
            <a:ext cx="1816444" cy="1816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263" y="1725781"/>
            <a:ext cx="1730984" cy="169194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470" name="Google Shape;470;p41"/>
          <p:cNvSpPr txBox="1"/>
          <p:nvPr/>
        </p:nvSpPr>
        <p:spPr>
          <a:xfrm>
            <a:off x="2489050" y="1225150"/>
            <a:ext cx="55155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We’re Matics</a:t>
            </a:r>
            <a:endParaRPr b="1" sz="18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We’re working towards transforming enterprise data into intelligent actions with </a:t>
            </a:r>
            <a:r>
              <a:rPr lang="en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bespoke AI and data-driven solutions to drive business success.</a:t>
            </a:r>
            <a:br>
              <a:rPr lang="en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With over </a:t>
            </a:r>
            <a:r>
              <a:rPr lang="en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 years of data excellence </a:t>
            </a:r>
            <a:r>
              <a:rPr lang="en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decade-long experienced team</a:t>
            </a:r>
            <a:r>
              <a:rPr lang="en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, we collaborate with potential businesses to understand business pain points and deliver tailored solutions to generate significant business value.</a:t>
            </a:r>
            <a:endParaRPr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300">
              <a:solidFill>
                <a:schemeClr val="accent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2"/>
          <p:cNvSpPr/>
          <p:nvPr/>
        </p:nvSpPr>
        <p:spPr>
          <a:xfrm>
            <a:off x="-8569" y="4106063"/>
            <a:ext cx="9161100" cy="1012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Matics Analytics Private Limited</a:t>
            </a:r>
            <a:endParaRPr sz="11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www.maticsanalytics.com | info@maticsanalytics.com</a:t>
            </a:r>
            <a:endParaRPr sz="11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373031" y="276544"/>
            <a:ext cx="28203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rgbClr val="1F2C8F"/>
              </a:buClr>
              <a:buSzPts val="3300"/>
              <a:buFont typeface="Arial Black"/>
              <a:buNone/>
            </a:pPr>
            <a:r>
              <a:rPr lang="en" sz="3000">
                <a:solidFill>
                  <a:srgbClr val="1F2C8F"/>
                </a:solidFill>
                <a:latin typeface="Poppins"/>
                <a:ea typeface="Poppins"/>
                <a:cs typeface="Poppins"/>
                <a:sym typeface="Poppins"/>
              </a:rPr>
              <a:t>REACH US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A blue circle with white lines&#10;&#10;Description automatically generated" id="477" name="Google Shape;47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488" y="80925"/>
            <a:ext cx="862481" cy="8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2"/>
          <p:cNvSpPr txBox="1"/>
          <p:nvPr>
            <p:ph idx="1" type="body"/>
          </p:nvPr>
        </p:nvSpPr>
        <p:spPr>
          <a:xfrm>
            <a:off x="534919" y="2164083"/>
            <a:ext cx="2496300" cy="1106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/>
          <a:p>
            <a:pPr indent="0" lvl="0" marL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b="0" lang="en" sz="1200"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5"/>
              </a:rPr>
              <a:t>nfo@maticsanalytics.com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9" name="Google Shape;479;p42"/>
          <p:cNvSpPr txBox="1"/>
          <p:nvPr>
            <p:ph idx="1" type="body"/>
          </p:nvPr>
        </p:nvSpPr>
        <p:spPr>
          <a:xfrm>
            <a:off x="3323813" y="2158570"/>
            <a:ext cx="2496300" cy="1106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6"/>
              </a:rPr>
              <a:t>maticsanalytics.com/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en" sz="1200"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7"/>
              </a:rPr>
              <a:t>book-online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80" name="Google Shape;480;p42"/>
          <p:cNvSpPr txBox="1"/>
          <p:nvPr>
            <p:ph idx="1" type="body"/>
          </p:nvPr>
        </p:nvSpPr>
        <p:spPr>
          <a:xfrm>
            <a:off x="6073181" y="2169183"/>
            <a:ext cx="2496300" cy="1106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/>
          <a:p>
            <a:pPr indent="0" lvl="0" marL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en" sz="1200">
                <a:latin typeface="Poppins Medium"/>
                <a:ea typeface="Poppins Medium"/>
                <a:cs typeface="Poppins Medium"/>
                <a:sym typeface="Poppins Medium"/>
              </a:rPr>
              <a:t>Ahmedabad, Gujarat, India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81" name="Google Shape;481;p42"/>
          <p:cNvPicPr preferRelativeResize="0"/>
          <p:nvPr>
            <p:ph idx="2" type="pic"/>
          </p:nvPr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22216" y="1800227"/>
            <a:ext cx="699600" cy="699600"/>
          </a:xfrm>
          <a:prstGeom prst="ellipse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2" name="Google Shape;482;p42"/>
          <p:cNvPicPr preferRelativeResize="0"/>
          <p:nvPr>
            <p:ph idx="2" type="pic"/>
          </p:nvPr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1585" y="1810840"/>
            <a:ext cx="699600" cy="699600"/>
          </a:xfrm>
          <a:prstGeom prst="ellipse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3" name="Google Shape;483;p42"/>
          <p:cNvPicPr preferRelativeResize="0"/>
          <p:nvPr>
            <p:ph idx="2" type="pic"/>
          </p:nvPr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3322" y="1805740"/>
            <a:ext cx="699600" cy="699600"/>
          </a:xfrm>
          <a:prstGeom prst="ellipse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